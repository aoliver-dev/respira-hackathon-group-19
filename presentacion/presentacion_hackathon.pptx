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Click to </a:t>
            </a: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move the </a:t>
            </a: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slide</a:t>
            </a: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notes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966F320-D7E3-47C3-A822-4D3680089462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D0034-00C2-4689-A6DF-B6FA9A5E8F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613057-CA8D-4DA3-B89D-D8F4189B1C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6BEF86-9163-41C6-AAFD-E6FFCEAA27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17634B-D762-4A94-886D-A34272EE0F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E80403-B04E-427D-9F02-AAC06EFC97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CCC016-1CF1-415B-8B42-36D4DA2BAB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ABBEC7-CB5D-4D61-BE04-748CCA608F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327408-A1A6-4F89-A8A1-78CA003DD0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7D4455-30E4-484E-AE90-481780968A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0F1A5-60E3-4321-B107-9AB2D0F639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9FB2755-CD71-4340-8C48-51EF1F8A3B5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502920" y="6473880"/>
            <a:ext cx="4937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67085"/>
                </a:solidFill>
                <a:latin typeface="Aptos"/>
                <a:ea typeface="Aptos"/>
              </a:rPr>
              <a:t>RESPIRA HACKATHON · FIBROSIS PULMONAR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996696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ILA Progress Risk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B608AA-CF52-44BC-8B19-ABAB4632FA43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s-E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s-E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109800"/>
            <a:ext cx="12191400" cy="64004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8321040" y="914400"/>
            <a:ext cx="2925720" cy="2925720"/>
          </a:xfrm>
          <a:prstGeom prst="ellipse">
            <a:avLst/>
          </a:prstGeom>
          <a:solidFill>
            <a:srgbClr val="e0f2fe">
              <a:alpha val="95000"/>
            </a:srgbClr>
          </a:solidFill>
          <a:ln w="12700">
            <a:solidFill>
              <a:srgbClr val="bae6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8823960" y="1417320"/>
            <a:ext cx="1919880" cy="1919880"/>
          </a:xfrm>
          <a:prstGeom prst="ellipse">
            <a:avLst/>
          </a:prstGeom>
          <a:solidFill>
            <a:srgbClr val="cffafe">
              <a:alpha val="98000"/>
            </a:srgbClr>
          </a:solidFill>
          <a:ln w="12700">
            <a:solidFill>
              <a:srgbClr val="67e8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685800" y="1143000"/>
            <a:ext cx="60346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7324d"/>
                </a:solidFill>
                <a:latin typeface="Aptos Display"/>
                <a:ea typeface="Aptos Display"/>
              </a:rPr>
              <a:t>ILA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7324d"/>
                </a:solidFill>
                <a:latin typeface="Aptos Display"/>
                <a:ea typeface="Aptos Display"/>
              </a:rPr>
              <a:t>Progress Risk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13160" y="2697480"/>
            <a:ext cx="6629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7490"/>
                </a:solidFill>
                <a:latin typeface="Aptos"/>
              </a:rPr>
              <a:t>Firma proteómica mínima para anticipar la progresión de ILA a EPID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31520" y="3429000"/>
            <a:ext cx="6766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67085"/>
                </a:solidFill>
                <a:latin typeface="Aptos"/>
              </a:rPr>
              <a:t>De 2.944 proteínas a 4 biomarcadores interpretables + contexto clínico basal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713160" y="4187880"/>
            <a:ext cx="672048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914400" y="43891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d2939"/>
                </a:solidFill>
                <a:latin typeface="Aptos"/>
              </a:rPr>
              <a:t>Equipo multidisciplinar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2880360" y="4361760"/>
            <a:ext cx="4160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67085"/>
                </a:solidFill>
                <a:latin typeface="Aptos"/>
              </a:rPr>
              <a:t>Ingeniería Informática · Telecomunicaciones · Ingeniería Biomédica · Economía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731520" y="544068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8a2b3"/>
                </a:solidFill>
                <a:latin typeface="Aptos"/>
              </a:rPr>
              <a:t>Integrantes: [completar nombres]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7818120" y="5394960"/>
            <a:ext cx="333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7324d"/>
                </a:solidFill>
                <a:latin typeface="Aptos"/>
              </a:rPr>
              <a:t>Respira Hackathon · Octubre 2026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sldNum" idx="5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4AD3DE-8135-44CA-828C-663C355F0FB8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1. El problema clínico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No todas las ILA progresan, pero hoy la estratificación depende sobre todo de TC y función pulmonar.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594360" y="1325880"/>
            <a:ext cx="3657240" cy="425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868680" y="1526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7490"/>
                </a:solidFill>
                <a:latin typeface="Aptos"/>
              </a:rPr>
              <a:t>Pregunta del reto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868680" y="2011680"/>
            <a:ext cx="3062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7324d"/>
                </a:solidFill>
                <a:latin typeface="Aptos"/>
              </a:rPr>
              <a:t>¿Podemos identificar en la visita basal a los pacientes con ILA con mayor riesgo de progresar a EPID?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896040" y="3337560"/>
            <a:ext cx="2971800" cy="360"/>
          </a:xfrm>
          <a:prstGeom prst="line">
            <a:avLst/>
          </a:prstGeom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868680" y="35845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d2939"/>
                </a:solidFill>
                <a:latin typeface="Aptos"/>
              </a:rPr>
              <a:t>Objetivo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868680" y="3931920"/>
            <a:ext cx="2971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20" spc="-1" strike="noStrike">
                <a:solidFill>
                  <a:srgbClr val="1d2939"/>
                </a:solidFill>
                <a:latin typeface="Aptos"/>
              </a:rPr>
              <a:t>Descubrir una firma simple entre 2.944 proteínas séricas.</a:t>
            </a:r>
            <a:endParaRPr b="0" lang="es-ES" sz="132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20" spc="-1" strike="noStrike">
                <a:solidFill>
                  <a:srgbClr val="1d2939"/>
                </a:solidFill>
                <a:latin typeface="Aptos"/>
              </a:rPr>
              <a:t>Integrarla con variables clínicas disponibles al diagnóstico.</a:t>
            </a:r>
            <a:endParaRPr b="0" lang="es-ES" sz="132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20" spc="-1" strike="noStrike">
                <a:solidFill>
                  <a:srgbClr val="1d2939"/>
                </a:solidFill>
                <a:latin typeface="Aptos"/>
              </a:rPr>
              <a:t>Priorizar interpretabilidad y posible traslación clínica.</a:t>
            </a:r>
            <a:endParaRPr b="0" lang="es-ES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983480" y="1965960"/>
            <a:ext cx="1142640" cy="1234080"/>
          </a:xfrm>
          <a:prstGeom prst="roundRect">
            <a:avLst>
              <a:gd name="adj" fmla="val 16667"/>
            </a:avLst>
          </a:prstGeom>
          <a:solidFill>
            <a:srgbClr val="eaf4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5029200" y="23043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d2939"/>
                </a:solidFill>
                <a:latin typeface="Aptos"/>
              </a:rPr>
              <a:t>Sano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6163200" y="2359080"/>
            <a:ext cx="292320" cy="4111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6446520" y="1965960"/>
            <a:ext cx="1142640" cy="123408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6492240" y="23043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d2939"/>
                </a:solidFill>
                <a:latin typeface="Aptos"/>
              </a:rPr>
              <a:t>ILA no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d2939"/>
                </a:solidFill>
                <a:latin typeface="Aptos"/>
              </a:rPr>
              <a:t>fibrótica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7626240" y="2359080"/>
            <a:ext cx="292320" cy="4111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7909560" y="1965960"/>
            <a:ext cx="1142640" cy="1234080"/>
          </a:xfrm>
          <a:prstGeom prst="roundRect">
            <a:avLst>
              <a:gd name="adj" fmla="val 16667"/>
            </a:avLst>
          </a:prstGeom>
          <a:solidFill>
            <a:srgbClr val="d8eef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7955280" y="23043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d2939"/>
                </a:solidFill>
                <a:latin typeface="Aptos"/>
              </a:rPr>
              <a:t>ILA fibrótica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d2939"/>
                </a:solidFill>
                <a:latin typeface="Aptos"/>
              </a:rPr>
              <a:t>estable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9089280" y="2359080"/>
            <a:ext cx="292320" cy="4111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9372600" y="1965960"/>
            <a:ext cx="1142640" cy="1234080"/>
          </a:xfrm>
          <a:prstGeom prst="roundRect">
            <a:avLst>
              <a:gd name="adj" fmla="val 16667"/>
            </a:avLst>
          </a:prstGeom>
          <a:solidFill>
            <a:srgbClr val="fde68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9418320" y="23043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pc="-1" strike="noStrike">
                <a:solidFill>
                  <a:srgbClr val="1d2939"/>
                </a:solidFill>
                <a:latin typeface="Aptos"/>
              </a:rPr>
              <a:t>ILA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pc="-1" strike="noStrike">
                <a:solidFill>
                  <a:srgbClr val="1d2939"/>
                </a:solidFill>
                <a:latin typeface="Aptos"/>
              </a:rPr>
              <a:t>progresiva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10552320" y="2359080"/>
            <a:ext cx="292320" cy="4111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0"/>
          <p:cNvSpPr/>
          <p:nvPr/>
        </p:nvSpPr>
        <p:spPr>
          <a:xfrm>
            <a:off x="10744200" y="1965960"/>
            <a:ext cx="1142640" cy="1234080"/>
          </a:xfrm>
          <a:prstGeom prst="roundRect">
            <a:avLst>
              <a:gd name="adj" fmla="val 16667"/>
            </a:avLst>
          </a:prstGeom>
          <a:solidFill>
            <a:srgbClr val="fecac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10789920" y="23043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pc="-1" strike="noStrike">
                <a:solidFill>
                  <a:srgbClr val="1d2939"/>
                </a:solidFill>
                <a:latin typeface="Aptos"/>
              </a:rPr>
              <a:t>EPID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pc="-1" strike="noStrike">
                <a:solidFill>
                  <a:srgbClr val="1d2939"/>
                </a:solidFill>
                <a:latin typeface="Aptos"/>
              </a:rPr>
              <a:t>establecida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5047560" y="14814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490"/>
                </a:solidFill>
                <a:latin typeface="Aptos"/>
              </a:rPr>
              <a:t>Continuo clínico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5029200" y="3822120"/>
            <a:ext cx="6354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324d"/>
                </a:solidFill>
                <a:latin typeface="Aptos"/>
              </a:rPr>
              <a:t>La oportunidad está en detectar la progresión antes de que la enfermedad esté establecida.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5120640" y="4709160"/>
            <a:ext cx="6171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67085"/>
                </a:solidFill>
                <a:latin typeface="Aptos"/>
              </a:rPr>
              <a:t>Resultado buscado: un score basal simple, interpretable y accionable para estratificar riesgo.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603360" y="610812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a8699"/>
                </a:solidFill>
                <a:latin typeface="Aptos"/>
              </a:rPr>
              <a:t>Fuente del reto: Respira Hackathon — Presentación del Reto (Olink Explore 3072; N=1.000; 2.944 proteínas).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sldNum" idx="6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FD9833-3CFB-4270-8048-5C4F51041709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2. Cohorte y control de calidad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Primero comprobamos que la señal proteómica fuese utilizable antes de entrenar modelos.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594360" y="1234440"/>
            <a:ext cx="3702960" cy="20570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841320" y="148140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24d"/>
                </a:solidFill>
                <a:latin typeface="Aptos"/>
              </a:rPr>
              <a:t>Cohorte completa · N=1.000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868680" y="1956960"/>
            <a:ext cx="529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7490"/>
                </a:solidFill>
                <a:latin typeface="Aptos"/>
              </a:rPr>
              <a:t>150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1334880" y="197496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Sanos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2240280" y="1956960"/>
            <a:ext cx="529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7490"/>
                </a:solidFill>
                <a:latin typeface="Aptos"/>
              </a:rPr>
              <a:t>200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2697480" y="1883520"/>
            <a:ext cx="1325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ILA no fibrótica estable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868680" y="2487240"/>
            <a:ext cx="529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e7490"/>
                </a:solidFill>
                <a:latin typeface="Aptos"/>
              </a:rPr>
              <a:t>150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1334880" y="2414160"/>
            <a:ext cx="959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ILA fibrótica estable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2240280" y="2487240"/>
            <a:ext cx="529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42318"/>
                </a:solidFill>
                <a:latin typeface="Aptos"/>
              </a:rPr>
              <a:t>300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2697480" y="251460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ILA progresiva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868680" y="2907720"/>
            <a:ext cx="2377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200 EPID establecida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594360" y="3502080"/>
            <a:ext cx="3702960" cy="2029680"/>
          </a:xfrm>
          <a:prstGeom prst="roundRect">
            <a:avLst>
              <a:gd name="adj" fmla="val 3604"/>
            </a:avLst>
          </a:prstGeom>
          <a:solidFill>
            <a:srgbClr val="f8fafc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841320" y="373068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24d"/>
                </a:solidFill>
                <a:latin typeface="Aptos"/>
              </a:rPr>
              <a:t>Cohorte predictiva · N=650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841320" y="415152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d2939"/>
                </a:solidFill>
                <a:latin typeface="Aptos"/>
              </a:rPr>
              <a:t>300 progresores vs 350 no progresores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841320" y="45536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1d2939"/>
                </a:solidFill>
                <a:latin typeface="Aptos"/>
              </a:rPr>
              <a:t>Solo variables de visita basal.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1d2939"/>
                </a:solidFill>
                <a:latin typeface="Aptos"/>
              </a:rPr>
              <a:t>Se excluyen sanos y EPID establecida del entrenamiento principal.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160" spc="-1" strike="noStrike">
                <a:solidFill>
                  <a:srgbClr val="1d2939"/>
                </a:solidFill>
                <a:latin typeface="Aptos"/>
              </a:rPr>
              <a:t>Los cinco grupos se reutilizan como control biológico del gradiente.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0" descr="/mnt/data/final_figures_hackathon/01_proteomic_qc_missingness.png"/>
          <p:cNvPicPr/>
          <p:nvPr/>
        </p:nvPicPr>
        <p:blipFill>
          <a:blip r:embed="rId1"/>
          <a:stretch/>
        </p:blipFill>
        <p:spPr>
          <a:xfrm>
            <a:off x="4590360" y="1353240"/>
            <a:ext cx="4434480" cy="2788560"/>
          </a:xfrm>
          <a:prstGeom prst="rect">
            <a:avLst/>
          </a:prstGeom>
          <a:ln w="0">
            <a:noFill/>
          </a:ln>
        </p:spPr>
      </p:pic>
      <p:sp>
        <p:nvSpPr>
          <p:cNvPr id="69" name="Shape 17"/>
          <p:cNvSpPr/>
          <p:nvPr/>
        </p:nvSpPr>
        <p:spPr>
          <a:xfrm>
            <a:off x="9253800" y="1426320"/>
            <a:ext cx="221256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9363600" y="153612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e7490"/>
                </a:solidFill>
                <a:latin typeface="Aptos"/>
              </a:rPr>
              <a:t>1,99%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9363600" y="1956960"/>
            <a:ext cx="1992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missing proteómico global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0"/>
          <p:cNvSpPr/>
          <p:nvPr/>
        </p:nvSpPr>
        <p:spPr>
          <a:xfrm>
            <a:off x="9253800" y="2578680"/>
            <a:ext cx="221256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9363600" y="268848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47857"/>
                </a:solidFill>
                <a:latin typeface="Aptos"/>
              </a:rPr>
              <a:t>0 / 2.944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9363600" y="3108960"/>
            <a:ext cx="1992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proteínas &gt;20% NA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3"/>
          <p:cNvSpPr/>
          <p:nvPr/>
        </p:nvSpPr>
        <p:spPr>
          <a:xfrm>
            <a:off x="9253800" y="3730680"/>
            <a:ext cx="221256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4"/>
          <p:cNvSpPr/>
          <p:nvPr/>
        </p:nvSpPr>
        <p:spPr>
          <a:xfrm>
            <a:off x="9363600" y="3840480"/>
            <a:ext cx="1992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47857"/>
                </a:solidFill>
                <a:latin typeface="Aptos"/>
              </a:rPr>
              <a:t>0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9363600" y="4260960"/>
            <a:ext cx="1992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assays de varianza casi nula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6"/>
          <p:cNvSpPr/>
          <p:nvPr/>
        </p:nvSpPr>
        <p:spPr>
          <a:xfrm>
            <a:off x="4617720" y="4389120"/>
            <a:ext cx="6848640" cy="1078560"/>
          </a:xfrm>
          <a:prstGeom prst="roundRect">
            <a:avLst>
              <a:gd name="adj" fmla="val 6780"/>
            </a:avLst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4864680" y="4590360"/>
            <a:ext cx="2194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pc="-1" strike="noStrike">
                <a:solidFill>
                  <a:srgbClr val="b45309"/>
                </a:solidFill>
                <a:latin typeface="Aptos"/>
              </a:rPr>
              <a:t>Límite del QC disponible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4864680" y="4892040"/>
            <a:ext cx="626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1d2939"/>
                </a:solidFill>
                <a:latin typeface="Aptos"/>
              </a:rPr>
              <a:t>No disponemos de PlateID / Run / flags de NPX Map, por lo que no podemos excluir formalmente batch effects de placa.</a:t>
            </a:r>
            <a:endParaRPr b="0" lang="es-E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7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AD8B4C-2EC4-4360-BE2D-95E6EF4CF336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3. Metodología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Diseñamos el pipeline para minimizar leakage y sobreajuste en un problema p≫n.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621720" y="1508760"/>
            <a:ext cx="1572480" cy="1919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731520" y="1664280"/>
            <a:ext cx="392760" cy="392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" name="Text 4"/>
          <p:cNvSpPr/>
          <p:nvPr/>
        </p:nvSpPr>
        <p:spPr>
          <a:xfrm>
            <a:off x="731520" y="1719000"/>
            <a:ext cx="39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786240" y="2176200"/>
            <a:ext cx="124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324d"/>
                </a:solidFill>
                <a:latin typeface="Aptos"/>
              </a:rPr>
              <a:t>QC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749880" y="2578680"/>
            <a:ext cx="1316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Missingness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Outliers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Varianza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2249280" y="2221920"/>
            <a:ext cx="228240" cy="38376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2523600" y="1508760"/>
            <a:ext cx="1572480" cy="1919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2633400" y="1664280"/>
            <a:ext cx="392760" cy="392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2633400" y="1719000"/>
            <a:ext cx="39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2688480" y="2176200"/>
            <a:ext cx="124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324d"/>
                </a:solidFill>
                <a:latin typeface="Aptos"/>
              </a:rPr>
              <a:t>Target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2651760" y="2578680"/>
            <a:ext cx="1316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Progressive ILA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vs no progresiva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4151520" y="2221920"/>
            <a:ext cx="228240" cy="38376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4425840" y="1508760"/>
            <a:ext cx="1572480" cy="1919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4535280" y="1664280"/>
            <a:ext cx="392760" cy="392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4535280" y="1719000"/>
            <a:ext cx="39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4590360" y="2176200"/>
            <a:ext cx="124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324d"/>
                </a:solidFill>
                <a:latin typeface="Aptos"/>
              </a:rPr>
              <a:t>Split interno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4553640" y="2578680"/>
            <a:ext cx="1316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Cross-validation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estratificada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9"/>
          <p:cNvSpPr/>
          <p:nvPr/>
        </p:nvSpPr>
        <p:spPr>
          <a:xfrm>
            <a:off x="6053400" y="2221920"/>
            <a:ext cx="228240" cy="38376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6327720" y="1508760"/>
            <a:ext cx="1572480" cy="1919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3" name="Shape 21"/>
          <p:cNvSpPr/>
          <p:nvPr/>
        </p:nvSpPr>
        <p:spPr>
          <a:xfrm>
            <a:off x="6437520" y="1664280"/>
            <a:ext cx="392760" cy="392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6437520" y="1719000"/>
            <a:ext cx="39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6492240" y="2176200"/>
            <a:ext cx="124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324d"/>
                </a:solidFill>
                <a:latin typeface="Aptos"/>
              </a:rPr>
              <a:t>Selección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6455520" y="2578680"/>
            <a:ext cx="1316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Regularización +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estabilidad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5"/>
          <p:cNvSpPr/>
          <p:nvPr/>
        </p:nvSpPr>
        <p:spPr>
          <a:xfrm>
            <a:off x="7955280" y="2221920"/>
            <a:ext cx="228240" cy="38376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8" name="Shape 26"/>
          <p:cNvSpPr/>
          <p:nvPr/>
        </p:nvSpPr>
        <p:spPr>
          <a:xfrm>
            <a:off x="8229600" y="1508760"/>
            <a:ext cx="1572480" cy="1919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8339400" y="1664280"/>
            <a:ext cx="392760" cy="392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8339400" y="1719000"/>
            <a:ext cx="39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5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9"/>
          <p:cNvSpPr/>
          <p:nvPr/>
        </p:nvSpPr>
        <p:spPr>
          <a:xfrm>
            <a:off x="8394120" y="2176200"/>
            <a:ext cx="124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324d"/>
                </a:solidFill>
                <a:latin typeface="Aptos"/>
              </a:rPr>
              <a:t>Evaluación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0"/>
          <p:cNvSpPr/>
          <p:nvPr/>
        </p:nvSpPr>
        <p:spPr>
          <a:xfrm>
            <a:off x="8357760" y="2578680"/>
            <a:ext cx="1316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Predicciones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out-of-fold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1"/>
          <p:cNvSpPr/>
          <p:nvPr/>
        </p:nvSpPr>
        <p:spPr>
          <a:xfrm>
            <a:off x="9857160" y="2221920"/>
            <a:ext cx="228240" cy="38376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4" name="Shape 32"/>
          <p:cNvSpPr/>
          <p:nvPr/>
        </p:nvSpPr>
        <p:spPr>
          <a:xfrm>
            <a:off x="10131480" y="1508760"/>
            <a:ext cx="1572480" cy="1919880"/>
          </a:xfrm>
          <a:prstGeom prst="roundRect">
            <a:avLst>
              <a:gd name="adj" fmla="val 4651"/>
            </a:avLst>
          </a:prstGeom>
          <a:solidFill>
            <a:srgbClr val="ecfdf3"/>
          </a:solidFill>
          <a:ln w="12700">
            <a:solidFill>
              <a:srgbClr val="a7f3d0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5" name="Shape 33"/>
          <p:cNvSpPr/>
          <p:nvPr/>
        </p:nvSpPr>
        <p:spPr>
          <a:xfrm>
            <a:off x="10241280" y="1664280"/>
            <a:ext cx="392760" cy="392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6" name="Text 34"/>
          <p:cNvSpPr/>
          <p:nvPr/>
        </p:nvSpPr>
        <p:spPr>
          <a:xfrm>
            <a:off x="10241280" y="1719000"/>
            <a:ext cx="39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</a:rPr>
              <a:t>6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5"/>
          <p:cNvSpPr/>
          <p:nvPr/>
        </p:nvSpPr>
        <p:spPr>
          <a:xfrm>
            <a:off x="10296000" y="2176200"/>
            <a:ext cx="124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324d"/>
                </a:solidFill>
                <a:latin typeface="Aptos"/>
              </a:rPr>
              <a:t>Interpretación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6"/>
          <p:cNvSpPr/>
          <p:nvPr/>
        </p:nvSpPr>
        <p:spPr>
          <a:xfrm>
            <a:off x="10259640" y="2578680"/>
            <a:ext cx="1316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Biología +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simplicidad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37"/>
          <p:cNvSpPr/>
          <p:nvPr/>
        </p:nvSpPr>
        <p:spPr>
          <a:xfrm>
            <a:off x="685800" y="3840480"/>
            <a:ext cx="50745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0" name="Text 38"/>
          <p:cNvSpPr/>
          <p:nvPr/>
        </p:nvSpPr>
        <p:spPr>
          <a:xfrm>
            <a:off x="932760" y="409644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e7490"/>
                </a:solidFill>
                <a:latin typeface="Aptos"/>
              </a:rPr>
              <a:t>Protección frente a leakage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9"/>
          <p:cNvSpPr/>
          <p:nvPr/>
        </p:nvSpPr>
        <p:spPr>
          <a:xfrm>
            <a:off x="932760" y="4453200"/>
            <a:ext cx="4434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No usamos patient_id, clinic_group ni variables de seguimiento.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Imputación y escalado se aprenden solo en train.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Cada paciente se evalúa con un modelo que no lo ha visto.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40"/>
          <p:cNvSpPr/>
          <p:nvPr/>
        </p:nvSpPr>
        <p:spPr>
          <a:xfrm>
            <a:off x="6035040" y="3840480"/>
            <a:ext cx="54129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3" name="Text 41"/>
          <p:cNvSpPr/>
          <p:nvPr/>
        </p:nvSpPr>
        <p:spPr>
          <a:xfrm>
            <a:off x="6309360" y="40964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e7490"/>
                </a:solidFill>
                <a:latin typeface="Aptos"/>
              </a:rPr>
              <a:t>Modelo final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42"/>
          <p:cNvSpPr/>
          <p:nvPr/>
        </p:nvSpPr>
        <p:spPr>
          <a:xfrm>
            <a:off x="6309360" y="44622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24d"/>
                </a:solidFill>
                <a:latin typeface="Aptos"/>
              </a:rPr>
              <a:t>Regresión logística L2 regularizada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3"/>
          <p:cNvSpPr/>
          <p:nvPr/>
        </p:nvSpPr>
        <p:spPr>
          <a:xfrm>
            <a:off x="6309360" y="4827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667085"/>
                </a:solidFill>
                <a:latin typeface="Aptos"/>
              </a:rPr>
              <a:t>7 variables clínicas basales + 4 proteínas · salida: probabilidad de progresión</a:t>
            </a:r>
            <a:endParaRPr b="0" lang="es-ES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4"/>
          <p:cNvSpPr/>
          <p:nvPr/>
        </p:nvSpPr>
        <p:spPr>
          <a:xfrm>
            <a:off x="603360" y="610812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a8699"/>
                </a:solidFill>
                <a:latin typeface="Aptos"/>
              </a:rPr>
              <a:t>IA generativa utilizada como apoyo en programación, análisis exploratorio, visualización y revisión bibliográfica; las decisiones analíticas y la interpretación fueron verificadas por el equipo.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Num" idx="8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7D181C-36CE-4D6D-8C27-86968A8071EA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4. De 2.944 proteínas a una firma de 4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La firma final combina estabilidad estadística, complementariedad biológica y evidencia externa.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731520" y="1463040"/>
            <a:ext cx="2102760" cy="2239920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 w="12700">
            <a:solidFill>
              <a:srgbClr val="cbd5e1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868680" y="17190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24d"/>
                </a:solidFill>
                <a:latin typeface="Aptos"/>
              </a:rPr>
              <a:t>SFTPB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896040" y="23317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Daño / reparación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alveolar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896040" y="3173040"/>
            <a:ext cx="1773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67085"/>
                </a:solidFill>
                <a:latin typeface="Aptos"/>
              </a:rPr>
              <a:t>núcleo predictivo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3291840" y="1463040"/>
            <a:ext cx="2102760" cy="2239920"/>
          </a:xfrm>
          <a:prstGeom prst="roundRect">
            <a:avLst>
              <a:gd name="adj" fmla="val 3478"/>
            </a:avLst>
          </a:prstGeom>
          <a:solidFill>
            <a:srgbClr val="cffafe"/>
          </a:solidFill>
          <a:ln w="12700">
            <a:solidFill>
              <a:srgbClr val="cbd5e1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3429000" y="17190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24d"/>
                </a:solidFill>
                <a:latin typeface="Aptos"/>
              </a:rPr>
              <a:t>SFTPD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3456360" y="23317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Surfactante y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daño alveolar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3456360" y="3173040"/>
            <a:ext cx="1773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67085"/>
                </a:solidFill>
                <a:latin typeface="Aptos"/>
              </a:rPr>
              <a:t>señal complementaria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5852160" y="1463040"/>
            <a:ext cx="2102760" cy="2239920"/>
          </a:xfrm>
          <a:prstGeom prst="roundRect">
            <a:avLst>
              <a:gd name="adj" fmla="val 3478"/>
            </a:avLst>
          </a:prstGeom>
          <a:solidFill>
            <a:srgbClr val="ede9fe"/>
          </a:solidFill>
          <a:ln w="12700">
            <a:solidFill>
              <a:srgbClr val="cbd5e1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5989320" y="17190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24d"/>
                </a:solidFill>
                <a:latin typeface="Aptos"/>
              </a:rPr>
              <a:t>GDF15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6016680" y="23317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Respuesta celular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al estrés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6016680" y="3173040"/>
            <a:ext cx="1773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67085"/>
                </a:solidFill>
                <a:latin typeface="Aptos"/>
              </a:rPr>
              <a:t>núcleo predictivo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8412480" y="1463040"/>
            <a:ext cx="2102760" cy="2239920"/>
          </a:xfrm>
          <a:prstGeom prst="roundRect">
            <a:avLst>
              <a:gd name="adj" fmla="val 3478"/>
            </a:avLst>
          </a:prstGeom>
          <a:solidFill>
            <a:srgbClr val="fce7f3"/>
          </a:solidFill>
          <a:ln w="12700">
            <a:solidFill>
              <a:srgbClr val="cbd5e1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5"/>
          <p:cNvSpPr/>
          <p:nvPr/>
        </p:nvSpPr>
        <p:spPr>
          <a:xfrm>
            <a:off x="8549640" y="17190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24d"/>
                </a:solidFill>
                <a:latin typeface="Aptos"/>
              </a:rPr>
              <a:t>MMP7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8577000" y="2331720"/>
            <a:ext cx="177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Remodelado de matriz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d2939"/>
                </a:solidFill>
                <a:latin typeface="Aptos"/>
              </a:rPr>
              <a:t>y fibrosis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8577000" y="3173040"/>
            <a:ext cx="1773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67085"/>
                </a:solidFill>
                <a:latin typeface="Aptos"/>
              </a:rPr>
              <a:t>progresión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960120" y="41878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7490"/>
                </a:solidFill>
                <a:latin typeface="Aptos"/>
              </a:rPr>
              <a:t>Lesión epitelial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2743200" y="4114800"/>
            <a:ext cx="502560" cy="43848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0"/>
          <p:cNvSpPr/>
          <p:nvPr/>
        </p:nvSpPr>
        <p:spPr>
          <a:xfrm>
            <a:off x="3566160" y="41878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d28d9"/>
                </a:solidFill>
                <a:latin typeface="Aptos"/>
              </a:rPr>
              <a:t>Estrés celular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1"/>
          <p:cNvSpPr/>
          <p:nvPr/>
        </p:nvSpPr>
        <p:spPr>
          <a:xfrm>
            <a:off x="5349240" y="4114800"/>
            <a:ext cx="502560" cy="43848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2"/>
          <p:cNvSpPr/>
          <p:nvPr/>
        </p:nvSpPr>
        <p:spPr>
          <a:xfrm>
            <a:off x="6035040" y="418788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42318"/>
                </a:solidFill>
                <a:latin typeface="Aptos"/>
              </a:rPr>
              <a:t>Remodelado fibrótico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8156520" y="4114800"/>
            <a:ext cx="502560" cy="43848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8732520" y="418788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7324d"/>
                </a:solidFill>
                <a:latin typeface="Aptos"/>
              </a:rPr>
              <a:t>Progresión ILA → EPID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5"/>
          <p:cNvSpPr/>
          <p:nvPr/>
        </p:nvSpPr>
        <p:spPr>
          <a:xfrm>
            <a:off x="786240" y="4846320"/>
            <a:ext cx="10496880" cy="77688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6"/>
          <p:cNvSpPr/>
          <p:nvPr/>
        </p:nvSpPr>
        <p:spPr>
          <a:xfrm>
            <a:off x="987480" y="507492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e7490"/>
                </a:solidFill>
                <a:latin typeface="Aptos"/>
              </a:rPr>
              <a:t>Por qué no añadimos más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2788920" y="5010840"/>
            <a:ext cx="8183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1d2939"/>
                </a:solidFill>
                <a:latin typeface="Aptos"/>
              </a:rPr>
              <a:t>WFDC2 es un candidato secundario sólido, pero añadirlo apenas cambia el AUC; CCL18 no aporta rendimiento incremental. Priorizamos parsimonia.</a:t>
            </a:r>
            <a:endParaRPr b="0" lang="es-E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8"/>
          <p:cNvSpPr/>
          <p:nvPr/>
        </p:nvSpPr>
        <p:spPr>
          <a:xfrm>
            <a:off x="603360" y="610812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a8699"/>
                </a:solidFill>
                <a:latin typeface="Aptos"/>
              </a:rPr>
              <a:t>Evidencia externa: Axelsson et al., AJRCCM 2022; Rose et al., ERJ 2025; Li et al., Respirology 2025.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sldNum" idx="9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90F427-E645-4389-B003-7CC443D83729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5. Rendimiento predictivo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La proteómica añade valor sobre una base clínica basal completa.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7772400" y="1444680"/>
            <a:ext cx="352008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7882200" y="1554480"/>
            <a:ext cx="3300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667085"/>
                </a:solidFill>
                <a:latin typeface="Aptos"/>
              </a:rPr>
              <a:t>0,937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7882200" y="1974960"/>
            <a:ext cx="3300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AUC · clínica basal completa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7772400" y="2706480"/>
            <a:ext cx="352008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7882200" y="2816280"/>
            <a:ext cx="3300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e7490"/>
                </a:solidFill>
                <a:latin typeface="Aptos"/>
              </a:rPr>
              <a:t>0,951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7882200" y="3237120"/>
            <a:ext cx="3300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AUC · clínica + 2 proteínas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7772400" y="3968640"/>
            <a:ext cx="352008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7882200" y="4078080"/>
            <a:ext cx="3300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47857"/>
                </a:solidFill>
                <a:latin typeface="Aptos"/>
              </a:rPr>
              <a:t>0,956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7882200" y="4498920"/>
            <a:ext cx="3300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AUC · clínica + 4 proteínas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8028360" y="521208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47857"/>
                </a:solidFill>
                <a:latin typeface="Aptos"/>
              </a:rPr>
              <a:t>+0,019 AUC vs clínica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603360" y="610812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a8699"/>
                </a:solidFill>
                <a:latin typeface="Aptos"/>
              </a:rPr>
              <a:t>AUC con predicciones out-of-fold de validación cruzada estratificada 5-fold. Base clínica: edad, sexo, IMC, tabaquismo, FVC, DLCO y TC. Validación interna.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Num" idx="10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7F68B-7686-4569-A69B-348D855E4B75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2" name="Picture 25" descr="roc_full_clinical.png"/>
          <p:cNvPicPr/>
          <p:nvPr/>
        </p:nvPicPr>
        <p:blipFill>
          <a:blip r:embed="rId1"/>
          <a:stretch/>
        </p:blipFill>
        <p:spPr>
          <a:xfrm>
            <a:off x="640080" y="1261800"/>
            <a:ext cx="68119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6. Del AUC a una decisión interpretable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El objetivo final es estratificar riesgo, no solo maximizar una métrica.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7607880" y="1389960"/>
            <a:ext cx="3803400" cy="1023840"/>
          </a:xfrm>
          <a:prstGeom prst="roundRect">
            <a:avLst>
              <a:gd name="adj" fmla="val 7143"/>
            </a:avLst>
          </a:prstGeom>
          <a:solidFill>
            <a:srgbClr val="d1fae5"/>
          </a:solidFill>
          <a:ln w="12700">
            <a:solidFill>
              <a:srgbClr val="a7f3d0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7882200" y="15728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47857"/>
                </a:solidFill>
                <a:latin typeface="Aptos"/>
              </a:rPr>
              <a:t>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8732520" y="155448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d2939"/>
                </a:solidFill>
                <a:latin typeface="Aptos"/>
              </a:rPr>
              <a:t>4,8% progresaron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8732520" y="1901880"/>
            <a:ext cx="226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n=294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7607880" y="2651760"/>
            <a:ext cx="3803400" cy="102384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12700">
            <a:solidFill>
              <a:srgbClr val="fde68a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7882200" y="283464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b45309"/>
                </a:solidFill>
                <a:latin typeface="Aptos"/>
              </a:rPr>
              <a:t>INTERMEDIO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9144000" y="281628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d2939"/>
                </a:solidFill>
                <a:latin typeface="Aptos"/>
              </a:rPr>
              <a:t>39,0% progresaron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8732520" y="3163680"/>
            <a:ext cx="226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n=59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7607880" y="3913560"/>
            <a:ext cx="3803400" cy="1023840"/>
          </a:xfrm>
          <a:prstGeom prst="roundRect">
            <a:avLst>
              <a:gd name="adj" fmla="val 7143"/>
            </a:avLst>
          </a:prstGeom>
          <a:solidFill>
            <a:srgbClr val="fee4e2"/>
          </a:solidFill>
          <a:ln w="12700">
            <a:solidFill>
              <a:srgbClr val="fecdca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7882200" y="409644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42318"/>
                </a:solidFill>
                <a:latin typeface="Aptos"/>
              </a:rPr>
              <a:t>ALTO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8732520" y="407808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d2939"/>
                </a:solidFill>
                <a:latin typeface="Aptos"/>
              </a:rPr>
              <a:t>88,6% progresaron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8732520" y="4425840"/>
            <a:ext cx="226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n=297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7845480" y="52578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0e7490"/>
                </a:solidFill>
                <a:latin typeface="Aptos"/>
              </a:rPr>
              <a:t>Umbrales prototipo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9189720" y="5248800"/>
            <a:ext cx="191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67085"/>
                </a:solidFill>
                <a:latin typeface="Aptos"/>
              </a:rPr>
              <a:t>Bajo &lt; 0,279 · Alto ≥ 0,481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603360" y="6108120"/>
            <a:ext cx="10926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7a8699"/>
                </a:solidFill>
                <a:latin typeface="Aptos"/>
              </a:rPr>
              <a:t>Los umbrales se derivan del propio dataset y requieren validación prospectiva antes de cualquier uso clínico.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sldNum" idx="11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5B15BF-7E76-4F3E-8724-A3208ABB54E2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1" name="Picture 25" descr="risk_groups_full_clinical.png"/>
          <p:cNvPicPr/>
          <p:nvPr/>
        </p:nvPicPr>
        <p:blipFill>
          <a:blip r:embed="rId1"/>
          <a:stretch/>
        </p:blipFill>
        <p:spPr>
          <a:xfrm>
            <a:off x="685800" y="1261800"/>
            <a:ext cx="65833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7. Propuesta de uso clínico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Una prueba basal sencilla: variables clínicas disponibles + panel sanguíneo de 4 proteínas.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658440" y="1417320"/>
            <a:ext cx="2880000" cy="41144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914400" y="16916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7490"/>
                </a:solidFill>
                <a:latin typeface="Aptos"/>
              </a:rPr>
              <a:t>ENTRADAS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4"/>
          <p:cNvSpPr/>
          <p:nvPr/>
        </p:nvSpPr>
        <p:spPr>
          <a:xfrm>
            <a:off x="987480" y="213048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1097280" y="218556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Edad · sexo · IMC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987480" y="251460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1097280" y="256932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Tabaquismo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8"/>
          <p:cNvSpPr/>
          <p:nvPr/>
        </p:nvSpPr>
        <p:spPr>
          <a:xfrm>
            <a:off x="987480" y="289872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1097280" y="295344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FVC basal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0"/>
          <p:cNvSpPr/>
          <p:nvPr/>
        </p:nvSpPr>
        <p:spPr>
          <a:xfrm>
            <a:off x="987480" y="328284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1097280" y="333756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DLCO basal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987480" y="366660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e8f3f6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5" name="Text 13"/>
          <p:cNvSpPr/>
          <p:nvPr/>
        </p:nvSpPr>
        <p:spPr>
          <a:xfrm>
            <a:off x="1097280" y="372168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Patrón de TC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4"/>
          <p:cNvSpPr/>
          <p:nvPr/>
        </p:nvSpPr>
        <p:spPr>
          <a:xfrm>
            <a:off x="987480" y="405072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e8f3f6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1097280" y="410580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SFTPB · GDF15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987480" y="443484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e8f3f6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1097280" y="448956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MMP7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8"/>
          <p:cNvSpPr/>
          <p:nvPr/>
        </p:nvSpPr>
        <p:spPr>
          <a:xfrm>
            <a:off x="987480" y="4818960"/>
            <a:ext cx="2175840" cy="273960"/>
          </a:xfrm>
          <a:prstGeom prst="roundRect">
            <a:avLst>
              <a:gd name="adj" fmla="val 16667"/>
            </a:avLst>
          </a:prstGeom>
          <a:solidFill>
            <a:srgbClr val="e8f3f6"/>
          </a:solidFill>
          <a:ln w="889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1097280" y="4873680"/>
            <a:ext cx="1956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40" spc="-1" strike="noStrike">
                <a:solidFill>
                  <a:srgbClr val="1d2939"/>
                </a:solidFill>
                <a:latin typeface="Aptos"/>
              </a:rPr>
              <a:t>SFTPD</a:t>
            </a:r>
            <a:endParaRPr b="0" lang="es-ES" sz="10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0"/>
          <p:cNvSpPr/>
          <p:nvPr/>
        </p:nvSpPr>
        <p:spPr>
          <a:xfrm>
            <a:off x="3749040" y="2788920"/>
            <a:ext cx="658080" cy="731160"/>
          </a:xfrm>
          <a:prstGeom prst="chevron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21"/>
          <p:cNvSpPr/>
          <p:nvPr/>
        </p:nvSpPr>
        <p:spPr>
          <a:xfrm>
            <a:off x="4617720" y="2148840"/>
            <a:ext cx="2834280" cy="1965600"/>
          </a:xfrm>
          <a:prstGeom prst="roundRect">
            <a:avLst>
              <a:gd name="adj" fmla="val 3721"/>
            </a:avLst>
          </a:prstGeom>
          <a:solidFill>
            <a:srgbClr val="e0f2fe"/>
          </a:solidFill>
          <a:ln w="12700">
            <a:solidFill>
              <a:srgbClr val="7dd3f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4892040" y="24415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7490"/>
                </a:solidFill>
                <a:latin typeface="Aptos"/>
              </a:rPr>
              <a:t>MODELO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3"/>
          <p:cNvSpPr/>
          <p:nvPr/>
        </p:nvSpPr>
        <p:spPr>
          <a:xfrm>
            <a:off x="4892040" y="2880360"/>
            <a:ext cx="2285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7324d"/>
                </a:solidFill>
                <a:latin typeface="Aptos"/>
              </a:rPr>
              <a:t>Regresión logística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7324d"/>
                </a:solidFill>
                <a:latin typeface="Aptos"/>
              </a:rPr>
              <a:t>regularizada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4"/>
          <p:cNvSpPr/>
          <p:nvPr/>
        </p:nvSpPr>
        <p:spPr>
          <a:xfrm>
            <a:off x="4937760" y="36576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Probabilidad individual de progresión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5"/>
          <p:cNvSpPr/>
          <p:nvPr/>
        </p:nvSpPr>
        <p:spPr>
          <a:xfrm>
            <a:off x="7699320" y="2788920"/>
            <a:ext cx="658080" cy="731160"/>
          </a:xfrm>
          <a:prstGeom prst="chevron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8577000" y="1417320"/>
            <a:ext cx="2925720" cy="4114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7"/>
          <p:cNvSpPr/>
          <p:nvPr/>
        </p:nvSpPr>
        <p:spPr>
          <a:xfrm>
            <a:off x="8851320" y="16916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7490"/>
                </a:solidFill>
                <a:latin typeface="Aptos"/>
              </a:rPr>
              <a:t>SALIDA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8"/>
          <p:cNvSpPr/>
          <p:nvPr/>
        </p:nvSpPr>
        <p:spPr>
          <a:xfrm>
            <a:off x="9034200" y="2240280"/>
            <a:ext cx="1992960" cy="59400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a7f3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9144000" y="2450520"/>
            <a:ext cx="1773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47857"/>
                </a:solidFill>
                <a:latin typeface="Aptos"/>
              </a:rPr>
              <a:t>RIESGO BAJO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0"/>
          <p:cNvSpPr/>
          <p:nvPr/>
        </p:nvSpPr>
        <p:spPr>
          <a:xfrm>
            <a:off x="9034200" y="3063240"/>
            <a:ext cx="1992960" cy="5940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de6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31"/>
          <p:cNvSpPr/>
          <p:nvPr/>
        </p:nvSpPr>
        <p:spPr>
          <a:xfrm>
            <a:off x="9144000" y="3273480"/>
            <a:ext cx="1773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45309"/>
                </a:solidFill>
                <a:latin typeface="Aptos"/>
              </a:rPr>
              <a:t>INTERMEDIO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32"/>
          <p:cNvSpPr/>
          <p:nvPr/>
        </p:nvSpPr>
        <p:spPr>
          <a:xfrm>
            <a:off x="9034200" y="3886200"/>
            <a:ext cx="1992960" cy="594000"/>
          </a:xfrm>
          <a:prstGeom prst="roundRect">
            <a:avLst>
              <a:gd name="adj" fmla="val 16667"/>
            </a:avLst>
          </a:prstGeom>
          <a:solidFill>
            <a:srgbClr val="fee4e2"/>
          </a:solidFill>
          <a:ln w="12700">
            <a:solidFill>
              <a:srgbClr val="fecd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3"/>
          <p:cNvSpPr/>
          <p:nvPr/>
        </p:nvSpPr>
        <p:spPr>
          <a:xfrm>
            <a:off x="9144000" y="4096440"/>
            <a:ext cx="1773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42318"/>
                </a:solidFill>
                <a:latin typeface="Aptos"/>
              </a:rPr>
              <a:t>RIESGO ALTO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4"/>
          <p:cNvSpPr/>
          <p:nvPr/>
        </p:nvSpPr>
        <p:spPr>
          <a:xfrm>
            <a:off x="8823960" y="4782240"/>
            <a:ext cx="2422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pc="-1" strike="noStrike">
                <a:solidFill>
                  <a:srgbClr val="667085"/>
                </a:solidFill>
                <a:latin typeface="Aptos"/>
              </a:rPr>
              <a:t>Objetivo: priorizar seguimiento y evaluación según riesgo, una vez validado prospectivamente.</a:t>
            </a:r>
            <a:endParaRPr b="0" lang="es-ES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35"/>
          <p:cNvSpPr/>
          <p:nvPr/>
        </p:nvSpPr>
        <p:spPr>
          <a:xfrm>
            <a:off x="3337560" y="5806440"/>
            <a:ext cx="5623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324d"/>
                </a:solidFill>
                <a:latin typeface="Aptos"/>
              </a:rPr>
              <a:t>2.944 proteínas → 4 analitos candidatos para una futura prueba dirigida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sldNum" idx="12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769C47-59F5-4CF8-B1E9-6F07B056A43C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8. Conclusiones y límites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Una solución compacta y defendible, todavía en fase de investigación.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640080" y="1298520"/>
            <a:ext cx="5531760" cy="411444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4e7ec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914400" y="157284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7490"/>
                </a:solidFill>
                <a:latin typeface="Aptos"/>
              </a:rPr>
              <a:t>Qué hemos conseguido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914400" y="2011680"/>
            <a:ext cx="489168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10" spc="-1" strike="noStrike">
                <a:solidFill>
                  <a:srgbClr val="1d2939"/>
                </a:solidFill>
                <a:latin typeface="Aptos"/>
              </a:rPr>
              <a:t>Reducir 2.944 proteínas a una firma de 4: SFTPB, GDF15, MMP7 y SFTPD.</a:t>
            </a:r>
            <a:endParaRPr b="0" lang="es-ES" sz="131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10" spc="-1" strike="noStrike">
                <a:solidFill>
                  <a:srgbClr val="1d2939"/>
                </a:solidFill>
                <a:latin typeface="Aptos"/>
              </a:rPr>
              <a:t>Integrarla con edad, sexo, IMC, tabaquismo, FVC, DLCO y patrón de TC.</a:t>
            </a:r>
            <a:endParaRPr b="0" lang="es-ES" sz="131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10" spc="-1" strike="noStrike">
                <a:solidFill>
                  <a:srgbClr val="1d2939"/>
                </a:solidFill>
                <a:latin typeface="Aptos"/>
              </a:rPr>
              <a:t>Alcanzar AUC 0,956 mediante predicciones out-of-fold.</a:t>
            </a:r>
            <a:endParaRPr b="0" lang="es-ES" sz="131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10" spc="-1" strike="noStrike">
                <a:solidFill>
                  <a:srgbClr val="1d2939"/>
                </a:solidFill>
                <a:latin typeface="Aptos"/>
              </a:rPr>
              <a:t>Separar grupos con 4,8%, 39,0% y 88,6% de progresión observada.</a:t>
            </a:r>
            <a:endParaRPr b="0" lang="es-ES" sz="131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10" spc="-1" strike="noStrike">
                <a:solidFill>
                  <a:srgbClr val="1d2939"/>
                </a:solidFill>
                <a:latin typeface="Aptos"/>
              </a:rPr>
              <a:t>Mantener una interpretación biológica coherente y una implementación potencialmente simple.</a:t>
            </a:r>
            <a:endParaRPr b="0" lang="es-ES" sz="13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5"/>
          <p:cNvSpPr/>
          <p:nvPr/>
        </p:nvSpPr>
        <p:spPr>
          <a:xfrm>
            <a:off x="6446520" y="1298520"/>
            <a:ext cx="5101920" cy="4114440"/>
          </a:xfrm>
          <a:prstGeom prst="roundRect">
            <a:avLst>
              <a:gd name="adj" fmla="val 1778"/>
            </a:avLst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  <a:effectLst>
            <a:outerShdw algn="bl" blurRad="12600" dir="2700000" dist="50402" kx="0" ky="0" rotWithShape="0" sx="100000" sy="100000">
              <a:srgbClr val="d0d5dd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6720840" y="157284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45309"/>
                </a:solidFill>
                <a:latin typeface="Aptos"/>
              </a:rPr>
              <a:t>Qué falta antes de hablar de clínica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6720840" y="2011680"/>
            <a:ext cx="437040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d2939"/>
                </a:solidFill>
                <a:latin typeface="Aptos"/>
              </a:rPr>
              <a:t>Validación externa y prospectiva en otra cohorte.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d2939"/>
                </a:solidFill>
                <a:latin typeface="Aptos"/>
              </a:rPr>
              <a:t>Confirmar reproducibilidad con un ensayo cuantitativo dirigido.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d2939"/>
                </a:solidFill>
                <a:latin typeface="Aptos"/>
              </a:rPr>
              <a:t>Evaluar batch/placas cuando exista metadata técnica.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d2939"/>
                </a:solidFill>
                <a:latin typeface="Aptos"/>
              </a:rPr>
              <a:t>Recalibrar umbrales de riesgo según prevalencia y contexto asistencial.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d293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d2939"/>
                </a:solidFill>
                <a:latin typeface="Aptos"/>
              </a:rPr>
              <a:t>Analizar impacto clínico y coste-efectividad.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841320" y="5650920"/>
            <a:ext cx="10771200" cy="502560"/>
          </a:xfrm>
          <a:prstGeom prst="roundRect">
            <a:avLst>
              <a:gd name="adj" fmla="val 16667"/>
            </a:avLst>
          </a:prstGeom>
          <a:solidFill>
            <a:srgbClr val="e8f3f6"/>
          </a:solidFill>
          <a:ln w="12700">
            <a:solidFill>
              <a:srgbClr val="bae6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1051560" y="5788080"/>
            <a:ext cx="10332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pc="-1" strike="noStrike">
                <a:solidFill>
                  <a:srgbClr val="17324d"/>
                </a:solidFill>
                <a:latin typeface="Aptos"/>
              </a:rPr>
              <a:t>Mensaje final: no proponemos medir 2.944 proteínas en clínica; las usamos como espacio de descubrimiento para llegar a una firma pequeña y trasladable.</a:t>
            </a:r>
            <a:endParaRPr b="0" lang="es-ES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sldNum" idx="13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91830F-8232-49B3-9159-B1EED9B85468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567000" y="34740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d2939"/>
                </a:solidFill>
                <a:latin typeface="Aptos Display"/>
                <a:ea typeface="Aptos Display"/>
              </a:rPr>
              <a:t>Referencias clave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585360" y="82296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</a:rPr>
              <a:t>Bibliografía utilizada para contextualizar e interpretar la firma.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786240" y="13899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7490"/>
                </a:solidFill>
                <a:latin typeface="Aptos"/>
              </a:rPr>
              <a:t>Respira Hackathon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2834640" y="138996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Presentación del Reto: Fibrosis pulmonar. Olink Explore 3072; cohorte N=1.000.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786240" y="1938240"/>
            <a:ext cx="10442520" cy="360"/>
          </a:xfrm>
          <a:prstGeom prst="line">
            <a:avLst/>
          </a:prstGeom>
          <a:ln w="8890">
            <a:solidFill>
              <a:srgbClr val="e4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786240" y="214884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7490"/>
                </a:solidFill>
                <a:latin typeface="Aptos"/>
              </a:rPr>
              <a:t>Axelsson et al.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2834640" y="214884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The Proteomic Profile of Interstitial Lung Abnormalities. Am J Respir Crit Care Med. 2022;206:337–346.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786240" y="2697480"/>
            <a:ext cx="10442520" cy="360"/>
          </a:xfrm>
          <a:prstGeom prst="line">
            <a:avLst/>
          </a:prstGeom>
          <a:ln w="8890">
            <a:solidFill>
              <a:srgbClr val="e4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786240" y="290772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7490"/>
                </a:solidFill>
                <a:latin typeface="Aptos"/>
              </a:rPr>
              <a:t>Rose et al.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2834640" y="290772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Protein biomarkers of interstitial lung abnormalities in relatives of patients with pulmonary fibrosis. Eur Respir J. 2025;65:2401349.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0"/>
          <p:cNvSpPr/>
          <p:nvPr/>
        </p:nvSpPr>
        <p:spPr>
          <a:xfrm>
            <a:off x="786240" y="3456360"/>
            <a:ext cx="10442520" cy="360"/>
          </a:xfrm>
          <a:prstGeom prst="line">
            <a:avLst/>
          </a:prstGeom>
          <a:ln w="8890">
            <a:solidFill>
              <a:srgbClr val="e4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786240" y="366660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7490"/>
                </a:solidFill>
                <a:latin typeface="Aptos"/>
              </a:rPr>
              <a:t>Li et al.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2834640" y="366660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Pre-treatment MMP7 predicts progressive idiopathic pulmonary fibrosis. Respirology. 2025.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786240" y="4215240"/>
            <a:ext cx="10442520" cy="360"/>
          </a:xfrm>
          <a:prstGeom prst="line">
            <a:avLst/>
          </a:prstGeom>
          <a:ln w="8890">
            <a:solidFill>
              <a:srgbClr val="e4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786240" y="442584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7490"/>
                </a:solidFill>
                <a:latin typeface="Aptos"/>
              </a:rPr>
              <a:t>Randall et al.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2834640" y="442584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Prognostic biomarkers in idiopathic pulmonary fibrosis: ISABELA trials. 2026.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786240" y="4974120"/>
            <a:ext cx="10442520" cy="360"/>
          </a:xfrm>
          <a:prstGeom prst="line">
            <a:avLst/>
          </a:prstGeom>
          <a:ln w="8890">
            <a:solidFill>
              <a:srgbClr val="e4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786240" y="518472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7490"/>
                </a:solidFill>
                <a:latin typeface="Aptos"/>
              </a:rPr>
              <a:t>Olink Proteomics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8"/>
          <p:cNvSpPr/>
          <p:nvPr/>
        </p:nvSpPr>
        <p:spPr>
          <a:xfrm>
            <a:off x="2834640" y="5184720"/>
            <a:ext cx="8366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2939"/>
                </a:solidFill>
                <a:latin typeface="Aptos"/>
              </a:rPr>
              <a:t>Explore / NPX documentation: NPX log2-normalized protein abundance and assay QC framework.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786240" y="6080760"/>
            <a:ext cx="10423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67085"/>
                </a:solidFill>
                <a:latin typeface="Aptos"/>
              </a:rPr>
              <a:t>Deck preparado para presentación; completar nombres del equipo y adaptar el tiempo de exposición.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sldNum" idx="14"/>
          </p:nvPr>
        </p:nvSpPr>
        <p:spPr>
          <a:xfrm>
            <a:off x="11731680" y="6428160"/>
            <a:ext cx="20088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pc="-1" strike="noStrike">
                <a:solidFill>
                  <a:srgbClr val="98a2b3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17A2C6-7ED9-400E-9A7E-1707B5C24356}" type="slidenum">
              <a:rPr b="0" lang="en-US" sz="850" spc="-1" strike="noStrike">
                <a:solidFill>
                  <a:srgbClr val="98a2b3"/>
                </a:solidFill>
                <a:latin typeface="Aptos"/>
                <a:ea typeface="Aptos"/>
              </a:rPr>
              <a:t>&lt;number&gt;</a:t>
            </a:fld>
            <a:endParaRPr b="0" lang="es-E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Hackathon team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2026-10-02T11:03:23Z</dcterms:created>
  <dc:creator>OpenAI</dc:creator>
  <dc:description/>
  <dc:language>es-ES</dc:language>
  <cp:lastModifiedBy/>
  <dcterms:modified xsi:type="dcterms:W3CDTF">2026-10-02T16:24:27Z</dcterms:modified>
  <cp:revision>2</cp:revision>
  <dc:subject>Respira Hackathon – Fibrosis pulmonar</dc:subject>
  <dc:title>ILA Progress Risk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