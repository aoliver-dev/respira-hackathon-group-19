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ORAL (30–40 s)
"Voy a explicar de forma sencilla cómo construimos ILA Compass. La idea fue partir de una pregunta clínica concreta: en un paciente que ya presenta ILA, ¿podemos estimar desde la visita inicial quién tiene más riesgo de progresar? Para responderla combinamos datos clínicos, función pulmonar, patrón de TC y una firma de cuatro proteínas. Elegimos un modelo sencillo e interpretable y, sobre todo, intentamos que todo el proceso de validación evitara fugas de información."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ORAL (55–65 s)
"El primer paso fue definir muy bien a quién queríamos predecir. El dataset tenía 1.000 participantes, pero para el modelo principal nos quedamos con 650 pacientes que ya tenían ILA: 300 progresores y 350 no progresores. Excluimos controles sanos y pacientes con EPID ya establecida. Si los hubiéramos incluido, el problema habría sido mucho más fácil, pero menos útil clínicamente. Nuestra variable objetivo fue binaria: 1 si el paciente progresó y 0 si permaneció estable. Por tanto, el modelo estima directamente la probabilidad de progresión."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ORAL (55–65 s)
"Después definimos las variables de entrada. Hay tres bloques. Primero, información clínica básica: edad, sexo, IMC y tabaquismo. Segundo, función y estructura pulmonar: FVC, DLCO y patrón de TC. Y tercero, la firma proteómica final con SFTPB, GDF15, MMP7 y SFTPD. Una decisión importante fue excluir de forma explícita las variables de seguimiento, como la FVC de visitas posteriores o el delta FVC. Usarlas sería hacer trampa: estaríamos dando al modelo información que todavía no existe en el momento en que queremos hacer la predicción."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ORAL (70–80 s)
"Antes de entrenar hicimos control de calidad. La proteómica tenía aproximadamente un 1,99% de valores ausentes y ninguna proteína superaba el 20% de missingness, por lo que no fue necesario eliminar proteínas por ese criterio. Después construimos todo el preprocesado dentro de un Pipeline. Los valores numéricos ausentes se imputan con la mediana del training fold; las variables numéricas se estandarizan; y sexo y patrón de TC se codifican con one-hot encoding. Lo importante es que el paciente de test nunca participa en el cálculo de esas transformaciones. Así evitamos que información del test se filtre hacia el entrenamiento."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ORAL (65–75 s)
"Para el modelo elegimos regresión logística con regularización L2. La idea es sencilla: cada variable aporta una contribución a una puntuación total y esa puntuación se transforma en una probabilidad entre 0 y 1. Los coeficientes no los ponemos nosotros; se aprenden durante el entrenamiento buscando separar progresores de no progresores. La regularización evita que algunos coeficientes crezcan demasiado y ayuda a controlar el sobreajuste. Además, comparamos un modelo clínico, uno con dos proteínas y el modelo final con cuatro proteínas utilizando los mismos folds. Nos quedamos con cuatro porque el rendimiento era alto sin perder simplicidad e interpretación."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ORAL (65–75 s)
"La parte más importante de la validación es esta. Dividimos los 650 pacientes en cinco folds estratificados, manteniendo una proporción similar de progresores y no progresores. En cada iteración entrenamos con cuatro folds y dejamos uno completamente aparte para evaluar. Repetimos el proceso cinco veces hasta que todos los pacientes han sido test exactamente una vez. Al final tenemos 650 probabilidades out-of-fold. Esto significa que la predicción de cada paciente procede de un modelo que no fue entrenado con él. Las métricas que presentamos salen de esas predicciones y no del rendimiento del modelo sobre sus propios datos de entrenamiento."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ORAL (65–75 s)
"Evaluamos el modelo con tres métricas porque cada una responde a una pregunta distinta. El ROC-AUC es 0,956 y mide discriminación: si cogemos al azar un progresor y un no progresor, el modelo asigna un riesgo mayor al progresor aproximadamente en el 95,6% de las parejas. El Average Precision es 0,938 y resume precision y recall, por lo que complementa al AUC. El Brier Score es 0,081 y mide el error de las probabilidades; en esta métrica cuanto menor, mejor. Es importante no interpretar el AUC como un 95,6% de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ORAL (65–75 s)
"Después convertimos la probabilidad continua en tres grupos para hacerla más interpretable. El umbral de bajo riesgo se eligió buscando una sensibilidad de al menos el 95% y, entre esos puntos, la mayor especificidad. El umbral de alto riesgo se eligió al revés: especificidad de al menos el 90% y después la mayor sensibilidad. Así obtenemos bajo riesgo por debajo de 0,279, intermedio entre 0,279 y 0,481 y alto por encima de 0,481. En nuestra cohorte, las tasas observadas de progresión fueron 4,8%, 39% y 88,6%. Pero estos umbrales todavía son de desarrollo y necesitan validación externa."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ORAL (75–90 s)
"Por último, separamos dos cosas que es importante no mezclar. Primero evaluamos el modelo mediante validación cruzada y obtenemos las métricas con predicciones out-of-fold. Solo después ajustamos una versión final con los 650 pacientes para obtener los coeficientes que usa la calculadora ILA Compass. No reportamos el rendimiento de ese modelo sobre los mismos pacientes con los que se entrenó. Y aquí está la principal limitación: toda la evidencia sigue siendo interna. Antes de pensar en uso clínico habría que congelar el modelo, aplicarlo sin modificarlo a una cohorte externa, comprobar calibración y discriminación y finalmente hacer una validación prospectiva. Ese es el siguiente paso real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6EA5"/>
          </a:solidFill>
          <a:ln w="12700">
            <a:solidFill>
              <a:srgbClr val="2F6EA5"/>
            </a:solidFill>
            <a:prstDash val="solid"/>
          </a:ln>
        </p:spPr>
      </p:sp>
      <p:sp>
        <p:nvSpPr>
          <p:cNvPr id="3" name="Text 1"/>
          <p:cNvSpPr/>
          <p:nvPr/>
        </p:nvSpPr>
        <p:spPr>
          <a:xfrm>
            <a:off x="502920" y="6510528"/>
            <a:ext cx="1645920" cy="201168"/>
          </a:xfrm>
          <a:prstGeom prst="rect">
            <a:avLst/>
          </a:prstGeom>
          <a:noFill/>
          <a:ln/>
        </p:spPr>
        <p:txBody>
          <a:bodyPr wrap="square" lIns="0" tIns="0" rIns="0" bIns="0" rtlCol="0" anchor="ctr"/>
          <a:lstStyle/>
          <a:p>
            <a:pPr indent="0" marL="0">
              <a:buNone/>
            </a:pPr>
            <a:r>
              <a:rPr lang="en-US" sz="900" b="1" dirty="0">
                <a:solidFill>
                  <a:srgbClr val="7A8793"/>
                </a:solidFill>
                <a:latin typeface="Aptos" pitchFamily="34" charset="0"/>
                <a:ea typeface="Aptos" pitchFamily="34" charset="-122"/>
                <a:cs typeface="Aptos" pitchFamily="34" charset="-120"/>
              </a:rPr>
              <a:t>ILA Compass</a:t>
            </a:r>
            <a:endParaRPr lang="en-US" sz="900" dirty="0"/>
          </a:p>
        </p:txBody>
      </p:sp>
      <p:sp>
        <p:nvSpPr>
          <p:cNvPr id="25" name="Slide Number Placeholder 0"/>
          <p:cNvSpPr>
            <a:spLocks noGrp="1"/>
          </p:cNvSpPr>
          <p:nvPr>
            <p:ph type="sldNum" sz="quarter" idx="4294967295"/>
          </p:nvPr>
        </p:nvSpPr>
        <p:spPr>
          <a:xfrm>
            <a:off x="11384280" y="6473952"/>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6A2"/>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73952"/>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6A2"/>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Shape 1"/>
          <p:cNvSpPr/>
          <p:nvPr/>
        </p:nvSpPr>
        <p:spPr>
          <a:xfrm>
            <a:off x="0" y="0"/>
            <a:ext cx="4069080" cy="6858000"/>
          </a:xfrm>
          <a:prstGeom prst="rect">
            <a:avLst/>
          </a:prstGeom>
          <a:solidFill>
            <a:srgbClr val="EDF3F7"/>
          </a:solidFill>
          <a:ln w="12700">
            <a:solidFill>
              <a:srgbClr val="EDF3F7"/>
            </a:solidFill>
            <a:prstDash val="solid"/>
          </a:ln>
        </p:spPr>
      </p:sp>
      <p:pic>
        <p:nvPicPr>
          <p:cNvPr id="4" name="Image 0" descr="/mnt/data/wide_clean_white_background_with_a_minimalist_mode.png">    </p:cNvPr>
          <p:cNvPicPr>
            <a:picLocks noChangeAspect="1"/>
          </p:cNvPicPr>
          <p:nvPr/>
        </p:nvPicPr>
        <p:blipFill>
          <a:blip r:embed="rId1"/>
          <a:stretch>
            <a:fillRect/>
          </a:stretch>
        </p:blipFill>
        <p:spPr>
          <a:xfrm>
            <a:off x="384048" y="1143000"/>
            <a:ext cx="3611880" cy="1417320"/>
          </a:xfrm>
          <a:prstGeom prst="rect">
            <a:avLst/>
          </a:prstGeom>
        </p:spPr>
      </p:pic>
      <p:sp>
        <p:nvSpPr>
          <p:cNvPr id="5" name="Text 2"/>
          <p:cNvSpPr/>
          <p:nvPr/>
        </p:nvSpPr>
        <p:spPr>
          <a:xfrm>
            <a:off x="4407408" y="1261872"/>
            <a:ext cx="6629400" cy="1325880"/>
          </a:xfrm>
          <a:prstGeom prst="rect">
            <a:avLst/>
          </a:prstGeom>
          <a:noFill/>
          <a:ln/>
        </p:spPr>
        <p:txBody>
          <a:bodyPr wrap="square" lIns="0" tIns="0" rIns="0" bIns="0" rtlCol="0" anchor="ctr"/>
          <a:lstStyle/>
          <a:p>
            <a:pPr indent="0" marL="0">
              <a:buNone/>
            </a:pPr>
            <a:r>
              <a:rPr lang="en-US" sz="3100" b="1" dirty="0">
                <a:solidFill>
                  <a:srgbClr val="16324F"/>
                </a:solidFill>
                <a:latin typeface="Aptos Display" pitchFamily="34" charset="0"/>
                <a:ea typeface="Aptos Display" pitchFamily="34" charset="-122"/>
                <a:cs typeface="Aptos Display" pitchFamily="34" charset="-120"/>
              </a:rPr>
              <a:t>Cómo construimos y validamos</a:t>
            </a:r>
            <a:endParaRPr lang="en-US" sz="3100" dirty="0"/>
          </a:p>
          <a:p>
            <a:pPr indent="0" marL="0">
              <a:buNone/>
            </a:pPr>
            <a:r>
              <a:rPr lang="en-US" sz="3100" b="1" dirty="0">
                <a:solidFill>
                  <a:srgbClr val="16324F"/>
                </a:solidFill>
                <a:latin typeface="Aptos Display" pitchFamily="34" charset="0"/>
                <a:ea typeface="Aptos Display" pitchFamily="34" charset="-122"/>
                <a:cs typeface="Aptos Display" pitchFamily="34" charset="-120"/>
              </a:rPr>
              <a:t>el modelo de riesgo</a:t>
            </a:r>
            <a:endParaRPr lang="en-US" sz="3100" dirty="0"/>
          </a:p>
        </p:txBody>
      </p:sp>
      <p:sp>
        <p:nvSpPr>
          <p:cNvPr id="6" name="Text 3"/>
          <p:cNvSpPr/>
          <p:nvPr/>
        </p:nvSpPr>
        <p:spPr>
          <a:xfrm>
            <a:off x="4434840" y="2834640"/>
            <a:ext cx="5303520" cy="384048"/>
          </a:xfrm>
          <a:prstGeom prst="rect">
            <a:avLst/>
          </a:prstGeom>
          <a:noFill/>
          <a:ln/>
        </p:spPr>
        <p:txBody>
          <a:bodyPr wrap="square" lIns="0" tIns="0" rIns="0" bIns="0" rtlCol="0" anchor="ctr"/>
          <a:lstStyle/>
          <a:p>
            <a:pPr indent="0" marL="0">
              <a:buNone/>
            </a:pPr>
            <a:r>
              <a:rPr lang="en-US" sz="1700" b="1" dirty="0">
                <a:solidFill>
                  <a:srgbClr val="2F6EA5"/>
                </a:solidFill>
              </a:rPr>
              <a:t>Metodología explicada paso a paso</a:t>
            </a:r>
            <a:endParaRPr lang="en-US" sz="1700" dirty="0"/>
          </a:p>
        </p:txBody>
      </p:sp>
      <p:sp>
        <p:nvSpPr>
          <p:cNvPr id="7" name="Text 4"/>
          <p:cNvSpPr/>
          <p:nvPr/>
        </p:nvSpPr>
        <p:spPr>
          <a:xfrm>
            <a:off x="4434840" y="3401568"/>
            <a:ext cx="6492240" cy="640080"/>
          </a:xfrm>
          <a:prstGeom prst="rect">
            <a:avLst/>
          </a:prstGeom>
          <a:noFill/>
          <a:ln/>
        </p:spPr>
        <p:txBody>
          <a:bodyPr wrap="square" lIns="0" tIns="0" rIns="0" bIns="0" rtlCol="0" anchor="ctr">
            <a:normAutofit/>
          </a:bodyPr>
          <a:lstStyle/>
          <a:p>
            <a:pPr indent="0" marL="0">
              <a:buNone/>
            </a:pPr>
            <a:r>
              <a:rPr lang="en-US" sz="1350" dirty="0">
                <a:solidFill>
                  <a:srgbClr val="687582"/>
                </a:solidFill>
              </a:rPr>
              <a:t>Cohorte ILA · clínica + imagen + 4 proteínas · regresión logística · validación cruzada</a:t>
            </a:r>
            <a:endParaRPr lang="en-US" sz="1350" dirty="0"/>
          </a:p>
        </p:txBody>
      </p:sp>
      <p:sp>
        <p:nvSpPr>
          <p:cNvPr id="8" name="Shape 5"/>
          <p:cNvSpPr/>
          <p:nvPr/>
        </p:nvSpPr>
        <p:spPr>
          <a:xfrm>
            <a:off x="4434840" y="4919472"/>
            <a:ext cx="6400800" cy="603504"/>
          </a:xfrm>
          <a:prstGeom prst="roundRect">
            <a:avLst>
              <a:gd name="adj" fmla="val 9091"/>
            </a:avLst>
          </a:prstGeom>
          <a:solidFill>
            <a:srgbClr val="FFFFFF"/>
          </a:solidFill>
          <a:ln w="12700">
            <a:solidFill>
              <a:srgbClr val="DCE3E8"/>
            </a:solidFill>
            <a:prstDash val="solid"/>
          </a:ln>
        </p:spPr>
      </p:sp>
      <p:sp>
        <p:nvSpPr>
          <p:cNvPr id="9" name="Text 6"/>
          <p:cNvSpPr/>
          <p:nvPr/>
        </p:nvSpPr>
        <p:spPr>
          <a:xfrm>
            <a:off x="4681728" y="5074920"/>
            <a:ext cx="5897880" cy="274320"/>
          </a:xfrm>
          <a:prstGeom prst="rect">
            <a:avLst/>
          </a:prstGeom>
          <a:noFill/>
          <a:ln/>
        </p:spPr>
        <p:txBody>
          <a:bodyPr wrap="square" lIns="0" tIns="0" rIns="0" bIns="0" rtlCol="0" anchor="ctr"/>
          <a:lstStyle/>
          <a:p>
            <a:pPr indent="0" marL="0">
              <a:buNone/>
            </a:pPr>
            <a:r>
              <a:rPr lang="en-US" sz="1280" b="1" dirty="0">
                <a:solidFill>
                  <a:srgbClr val="1F2A35"/>
                </a:solidFill>
              </a:rPr>
              <a:t>Objetivo: estimar, desde la visita basal, qué pacientes con ILA tienen mayor riesgo de progresar.</a:t>
            </a:r>
            <a:endParaRPr lang="en-US" sz="1280" dirty="0"/>
          </a:p>
        </p:txBody>
      </p:sp>
      <p:sp>
        <p:nvSpPr>
          <p:cNvPr id="10" name="Text 7"/>
          <p:cNvSpPr/>
          <p:nvPr/>
        </p:nvSpPr>
        <p:spPr>
          <a:xfrm>
            <a:off x="4434840" y="6016752"/>
            <a:ext cx="3291840" cy="228600"/>
          </a:xfrm>
          <a:prstGeom prst="rect">
            <a:avLst/>
          </a:prstGeom>
          <a:noFill/>
          <a:ln/>
        </p:spPr>
        <p:txBody>
          <a:bodyPr wrap="square" lIns="0" tIns="0" rIns="0" bIns="0" rtlCol="0" anchor="ctr"/>
          <a:lstStyle/>
          <a:p>
            <a:pPr indent="0" marL="0">
              <a:buNone/>
            </a:pPr>
            <a:r>
              <a:rPr lang="en-US" sz="1050" dirty="0">
                <a:solidFill>
                  <a:srgbClr val="87939E"/>
                </a:solidFill>
              </a:rPr>
              <a:t>Presentación metodológica · 8–10 min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47472"/>
            <a:ext cx="8046720" cy="438912"/>
          </a:xfrm>
          <a:prstGeom prst="rect">
            <a:avLst/>
          </a:prstGeom>
          <a:noFill/>
          <a:ln/>
        </p:spPr>
        <p:txBody>
          <a:bodyPr wrap="square" lIns="0" tIns="0" rIns="0" bIns="0" rtlCol="0" anchor="ctr"/>
          <a:lstStyle/>
          <a:p>
            <a:pPr indent="0" marL="0">
              <a:buNone/>
            </a:pPr>
            <a:r>
              <a:rPr lang="en-US" sz="2600" b="1" dirty="0">
                <a:solidFill>
                  <a:srgbClr val="16324F"/>
                </a:solidFill>
                <a:latin typeface="Aptos Display" pitchFamily="34" charset="0"/>
                <a:ea typeface="Aptos Display" pitchFamily="34" charset="-122"/>
                <a:cs typeface="Aptos Display" pitchFamily="34" charset="-120"/>
              </a:rPr>
              <a:t>1. Partimos de la pregunta clínica correcta</a:t>
            </a:r>
            <a:endParaRPr lang="en-US" sz="2600" dirty="0"/>
          </a:p>
        </p:txBody>
      </p:sp>
      <p:sp>
        <p:nvSpPr>
          <p:cNvPr id="3" name="Text 1"/>
          <p:cNvSpPr/>
          <p:nvPr/>
        </p:nvSpPr>
        <p:spPr>
          <a:xfrm>
            <a:off x="585216" y="841248"/>
            <a:ext cx="10789920" cy="329184"/>
          </a:xfrm>
          <a:prstGeom prst="rect">
            <a:avLst/>
          </a:prstGeom>
          <a:noFill/>
          <a:ln/>
        </p:spPr>
        <p:txBody>
          <a:bodyPr wrap="square" lIns="0" tIns="0" rIns="0" bIns="0" rtlCol="0" anchor="ctr"/>
          <a:lstStyle/>
          <a:p>
            <a:pPr indent="0" marL="0">
              <a:buNone/>
            </a:pPr>
            <a:r>
              <a:rPr lang="en-US" sz="1250" dirty="0">
                <a:solidFill>
                  <a:srgbClr val="687582"/>
                </a:solidFill>
              </a:rPr>
              <a:t>No queríamos distinguir “sano vs enfermo”, sino predecir progresión dentro de pacientes con ILA.</a:t>
            </a:r>
            <a:endParaRPr lang="en-US" sz="1250" dirty="0"/>
          </a:p>
        </p:txBody>
      </p:sp>
      <p:sp>
        <p:nvSpPr>
          <p:cNvPr id="4" name="Shape 2"/>
          <p:cNvSpPr/>
          <p:nvPr/>
        </p:nvSpPr>
        <p:spPr>
          <a:xfrm>
            <a:off x="640080" y="1417320"/>
            <a:ext cx="2788920" cy="1371600"/>
          </a:xfrm>
          <a:prstGeom prst="roundRect">
            <a:avLst>
              <a:gd name="adj" fmla="val 5333"/>
            </a:avLst>
          </a:prstGeom>
          <a:solidFill>
            <a:srgbClr val="F8FAFB"/>
          </a:solidFill>
          <a:ln w="12700">
            <a:solidFill>
              <a:srgbClr val="DCE3E8"/>
            </a:solidFill>
            <a:prstDash val="solid"/>
          </a:ln>
        </p:spPr>
      </p:sp>
      <p:sp>
        <p:nvSpPr>
          <p:cNvPr id="5" name="Text 3"/>
          <p:cNvSpPr/>
          <p:nvPr/>
        </p:nvSpPr>
        <p:spPr>
          <a:xfrm>
            <a:off x="804672" y="1545336"/>
            <a:ext cx="2459736" cy="164592"/>
          </a:xfrm>
          <a:prstGeom prst="rect">
            <a:avLst/>
          </a:prstGeom>
          <a:noFill/>
          <a:ln/>
        </p:spPr>
        <p:txBody>
          <a:bodyPr wrap="square" lIns="0" tIns="0" rIns="0" bIns="0" rtlCol="0" anchor="ctr"/>
          <a:lstStyle/>
          <a:p>
            <a:pPr indent="0" marL="0">
              <a:buNone/>
            </a:pPr>
            <a:r>
              <a:rPr lang="en-US" sz="900" b="1" dirty="0">
                <a:solidFill>
                  <a:srgbClr val="687582"/>
                </a:solidFill>
              </a:rPr>
              <a:t>PUNTO DE PARTIDA</a:t>
            </a:r>
            <a:endParaRPr lang="en-US" sz="900" dirty="0"/>
          </a:p>
        </p:txBody>
      </p:sp>
      <p:sp>
        <p:nvSpPr>
          <p:cNvPr id="6" name="Text 4"/>
          <p:cNvSpPr/>
          <p:nvPr/>
        </p:nvSpPr>
        <p:spPr>
          <a:xfrm>
            <a:off x="804672" y="1773936"/>
            <a:ext cx="2459736" cy="292608"/>
          </a:xfrm>
          <a:prstGeom prst="rect">
            <a:avLst/>
          </a:prstGeom>
          <a:noFill/>
          <a:ln/>
        </p:spPr>
        <p:txBody>
          <a:bodyPr wrap="square" lIns="0" tIns="0" rIns="0" bIns="0" rtlCol="0" anchor="ctr"/>
          <a:lstStyle/>
          <a:p>
            <a:pPr indent="0" marL="0">
              <a:buNone/>
            </a:pPr>
            <a:r>
              <a:rPr lang="en-US" sz="1600" b="1" dirty="0">
                <a:solidFill>
                  <a:srgbClr val="16324F"/>
                </a:solidFill>
              </a:rPr>
              <a:t>Cohorte original</a:t>
            </a:r>
            <a:endParaRPr lang="en-US" sz="1600" dirty="0"/>
          </a:p>
        </p:txBody>
      </p:sp>
      <p:sp>
        <p:nvSpPr>
          <p:cNvPr id="7" name="Text 5"/>
          <p:cNvSpPr/>
          <p:nvPr/>
        </p:nvSpPr>
        <p:spPr>
          <a:xfrm>
            <a:off x="804672" y="2167128"/>
            <a:ext cx="2459736" cy="512064"/>
          </a:xfrm>
          <a:prstGeom prst="rect">
            <a:avLst/>
          </a:prstGeom>
          <a:noFill/>
          <a:ln/>
        </p:spPr>
        <p:txBody>
          <a:bodyPr wrap="square" lIns="254" tIns="254" rIns="254" bIns="254" rtlCol="0" anchor="t">
            <a:normAutofit/>
          </a:bodyPr>
          <a:lstStyle/>
          <a:p>
            <a:pPr indent="0" marL="0">
              <a:buNone/>
            </a:pPr>
            <a:r>
              <a:rPr lang="en-US" sz="1130" dirty="0">
                <a:solidFill>
                  <a:srgbClr val="1F2A35"/>
                </a:solidFill>
              </a:rPr>
              <a:t>1.000 participantes</a:t>
            </a:r>
            <a:endParaRPr lang="en-US" sz="1130" dirty="0"/>
          </a:p>
          <a:p>
            <a:pPr indent="0" marL="0">
              <a:buNone/>
            </a:pPr>
            <a:r>
              <a:rPr lang="en-US" sz="1130" dirty="0">
                <a:solidFill>
                  <a:srgbClr val="1F2A35"/>
                </a:solidFill>
              </a:rPr>
              <a:t>Controles sanos + ILA + EPID establecida</a:t>
            </a:r>
            <a:endParaRPr lang="en-US" sz="1130" dirty="0"/>
          </a:p>
        </p:txBody>
      </p:sp>
      <p:sp>
        <p:nvSpPr>
          <p:cNvPr id="8" name="Shape 6"/>
          <p:cNvSpPr/>
          <p:nvPr/>
        </p:nvSpPr>
        <p:spPr>
          <a:xfrm>
            <a:off x="3520440" y="2103120"/>
            <a:ext cx="594360" cy="0"/>
          </a:xfrm>
          <a:prstGeom prst="line">
            <a:avLst/>
          </a:prstGeom>
          <a:noFill/>
          <a:ln w="22860">
            <a:solidFill>
              <a:srgbClr val="2F6EA5"/>
            </a:solidFill>
            <a:prstDash val="solid"/>
            <a:headEnd type="none"/>
            <a:tailEnd type="triangle"/>
          </a:ln>
        </p:spPr>
      </p:sp>
      <p:sp>
        <p:nvSpPr>
          <p:cNvPr id="9" name="Shape 7"/>
          <p:cNvSpPr/>
          <p:nvPr/>
        </p:nvSpPr>
        <p:spPr>
          <a:xfrm>
            <a:off x="4224528" y="1298448"/>
            <a:ext cx="2880360" cy="1609344"/>
          </a:xfrm>
          <a:prstGeom prst="roundRect">
            <a:avLst>
              <a:gd name="adj" fmla="val 4545"/>
            </a:avLst>
          </a:prstGeom>
          <a:solidFill>
            <a:srgbClr val="FFFFFF"/>
          </a:solidFill>
          <a:ln w="12700">
            <a:solidFill>
              <a:srgbClr val="BFD0DE"/>
            </a:solidFill>
            <a:prstDash val="solid"/>
          </a:ln>
        </p:spPr>
      </p:sp>
      <p:sp>
        <p:nvSpPr>
          <p:cNvPr id="10" name="Text 8"/>
          <p:cNvSpPr/>
          <p:nvPr/>
        </p:nvSpPr>
        <p:spPr>
          <a:xfrm>
            <a:off x="4389120" y="1426464"/>
            <a:ext cx="2551176" cy="164592"/>
          </a:xfrm>
          <a:prstGeom prst="rect">
            <a:avLst/>
          </a:prstGeom>
          <a:noFill/>
          <a:ln/>
        </p:spPr>
        <p:txBody>
          <a:bodyPr wrap="square" lIns="0" tIns="0" rIns="0" bIns="0" rtlCol="0" anchor="ctr"/>
          <a:lstStyle/>
          <a:p>
            <a:pPr indent="0" marL="0">
              <a:buNone/>
            </a:pPr>
            <a:r>
              <a:rPr lang="en-US" sz="900" b="1" dirty="0">
                <a:solidFill>
                  <a:srgbClr val="687582"/>
                </a:solidFill>
              </a:rPr>
              <a:t>ANÁLISIS PRINCIPAL</a:t>
            </a:r>
            <a:endParaRPr lang="en-US" sz="900" dirty="0"/>
          </a:p>
        </p:txBody>
      </p:sp>
      <p:sp>
        <p:nvSpPr>
          <p:cNvPr id="11" name="Text 9"/>
          <p:cNvSpPr/>
          <p:nvPr/>
        </p:nvSpPr>
        <p:spPr>
          <a:xfrm>
            <a:off x="4389120" y="1655064"/>
            <a:ext cx="2551176" cy="292608"/>
          </a:xfrm>
          <a:prstGeom prst="rect">
            <a:avLst/>
          </a:prstGeom>
          <a:noFill/>
          <a:ln/>
        </p:spPr>
        <p:txBody>
          <a:bodyPr wrap="square" lIns="0" tIns="0" rIns="0" bIns="0" rtlCol="0" anchor="ctr"/>
          <a:lstStyle/>
          <a:p>
            <a:pPr indent="0" marL="0">
              <a:buNone/>
            </a:pPr>
            <a:r>
              <a:rPr lang="en-US" sz="1600" b="1" dirty="0">
                <a:solidFill>
                  <a:srgbClr val="16324F"/>
                </a:solidFill>
              </a:rPr>
              <a:t>Cohorte de modelado</a:t>
            </a:r>
            <a:endParaRPr lang="en-US" sz="1600" dirty="0"/>
          </a:p>
        </p:txBody>
      </p:sp>
      <p:sp>
        <p:nvSpPr>
          <p:cNvPr id="12" name="Text 10"/>
          <p:cNvSpPr/>
          <p:nvPr/>
        </p:nvSpPr>
        <p:spPr>
          <a:xfrm>
            <a:off x="4389120" y="2048256"/>
            <a:ext cx="2551176" cy="749808"/>
          </a:xfrm>
          <a:prstGeom prst="rect">
            <a:avLst/>
          </a:prstGeom>
          <a:noFill/>
          <a:ln/>
        </p:spPr>
        <p:txBody>
          <a:bodyPr wrap="square" lIns="254" tIns="254" rIns="254" bIns="254" rtlCol="0" anchor="t">
            <a:normAutofit/>
          </a:bodyPr>
          <a:lstStyle/>
          <a:p>
            <a:pPr indent="0" marL="0">
              <a:buNone/>
            </a:pPr>
            <a:r>
              <a:rPr lang="en-US" sz="1130" dirty="0">
                <a:solidFill>
                  <a:srgbClr val="1F2A35"/>
                </a:solidFill>
              </a:rPr>
              <a:t>650 pacientes con ILA</a:t>
            </a:r>
            <a:endParaRPr lang="en-US" sz="1130" dirty="0"/>
          </a:p>
          <a:p>
            <a:pPr indent="0" marL="0">
              <a:buNone/>
            </a:pPr>
            <a:endParaRPr lang="en-US" sz="1130" dirty="0"/>
          </a:p>
          <a:p>
            <a:pPr indent="0" marL="0">
              <a:buNone/>
            </a:pPr>
            <a:r>
              <a:rPr lang="en-US" sz="1130" dirty="0">
                <a:solidFill>
                  <a:srgbClr val="1F2A35"/>
                </a:solidFill>
              </a:rPr>
              <a:t>300 progresores</a:t>
            </a:r>
            <a:endParaRPr lang="en-US" sz="1130" dirty="0"/>
          </a:p>
          <a:p>
            <a:pPr indent="0" marL="0">
              <a:buNone/>
            </a:pPr>
            <a:r>
              <a:rPr lang="en-US" sz="1130" dirty="0">
                <a:solidFill>
                  <a:srgbClr val="1F2A35"/>
                </a:solidFill>
              </a:rPr>
              <a:t>350 no progresores</a:t>
            </a:r>
            <a:endParaRPr lang="en-US" sz="1130" dirty="0"/>
          </a:p>
        </p:txBody>
      </p:sp>
      <p:sp>
        <p:nvSpPr>
          <p:cNvPr id="13" name="Shape 11"/>
          <p:cNvSpPr/>
          <p:nvPr/>
        </p:nvSpPr>
        <p:spPr>
          <a:xfrm>
            <a:off x="7205472" y="2103120"/>
            <a:ext cx="612648" cy="0"/>
          </a:xfrm>
          <a:prstGeom prst="line">
            <a:avLst/>
          </a:prstGeom>
          <a:noFill/>
          <a:ln w="22860">
            <a:solidFill>
              <a:srgbClr val="2F6EA5"/>
            </a:solidFill>
            <a:prstDash val="solid"/>
            <a:headEnd type="none"/>
            <a:tailEnd type="triangle"/>
          </a:ln>
        </p:spPr>
      </p:sp>
      <p:sp>
        <p:nvSpPr>
          <p:cNvPr id="14" name="Shape 12"/>
          <p:cNvSpPr/>
          <p:nvPr/>
        </p:nvSpPr>
        <p:spPr>
          <a:xfrm>
            <a:off x="7936992" y="1417320"/>
            <a:ext cx="3383280" cy="1371600"/>
          </a:xfrm>
          <a:prstGeom prst="roundRect">
            <a:avLst>
              <a:gd name="adj" fmla="val 5333"/>
            </a:avLst>
          </a:prstGeom>
          <a:solidFill>
            <a:srgbClr val="F8FAFB"/>
          </a:solidFill>
          <a:ln w="12700">
            <a:solidFill>
              <a:srgbClr val="DCE3E8"/>
            </a:solidFill>
            <a:prstDash val="solid"/>
          </a:ln>
        </p:spPr>
      </p:sp>
      <p:sp>
        <p:nvSpPr>
          <p:cNvPr id="15" name="Text 13"/>
          <p:cNvSpPr/>
          <p:nvPr/>
        </p:nvSpPr>
        <p:spPr>
          <a:xfrm>
            <a:off x="8101584" y="1545336"/>
            <a:ext cx="3054096" cy="164592"/>
          </a:xfrm>
          <a:prstGeom prst="rect">
            <a:avLst/>
          </a:prstGeom>
          <a:noFill/>
          <a:ln/>
        </p:spPr>
        <p:txBody>
          <a:bodyPr wrap="square" lIns="0" tIns="0" rIns="0" bIns="0" rtlCol="0" anchor="ctr"/>
          <a:lstStyle/>
          <a:p>
            <a:pPr indent="0" marL="0">
              <a:buNone/>
            </a:pPr>
            <a:r>
              <a:rPr lang="en-US" sz="900" b="1" dirty="0">
                <a:solidFill>
                  <a:srgbClr val="687582"/>
                </a:solidFill>
              </a:rPr>
              <a:t>CLASIFICACIÓN BINARIA</a:t>
            </a:r>
            <a:endParaRPr lang="en-US" sz="900" dirty="0"/>
          </a:p>
        </p:txBody>
      </p:sp>
      <p:sp>
        <p:nvSpPr>
          <p:cNvPr id="16" name="Text 14"/>
          <p:cNvSpPr/>
          <p:nvPr/>
        </p:nvSpPr>
        <p:spPr>
          <a:xfrm>
            <a:off x="8101584" y="1773936"/>
            <a:ext cx="3054096" cy="292608"/>
          </a:xfrm>
          <a:prstGeom prst="rect">
            <a:avLst/>
          </a:prstGeom>
          <a:noFill/>
          <a:ln/>
        </p:spPr>
        <p:txBody>
          <a:bodyPr wrap="square" lIns="0" tIns="0" rIns="0" bIns="0" rtlCol="0" anchor="ctr"/>
          <a:lstStyle/>
          <a:p>
            <a:pPr indent="0" marL="0">
              <a:buNone/>
            </a:pPr>
            <a:r>
              <a:rPr lang="en-US" sz="1600" b="1" dirty="0">
                <a:solidFill>
                  <a:srgbClr val="16324F"/>
                </a:solidFill>
              </a:rPr>
              <a:t>Variable objetivo</a:t>
            </a:r>
            <a:endParaRPr lang="en-US" sz="1600" dirty="0"/>
          </a:p>
        </p:txBody>
      </p:sp>
      <p:sp>
        <p:nvSpPr>
          <p:cNvPr id="17" name="Text 15"/>
          <p:cNvSpPr/>
          <p:nvPr/>
        </p:nvSpPr>
        <p:spPr>
          <a:xfrm>
            <a:off x="8101584" y="2167128"/>
            <a:ext cx="3054096" cy="512064"/>
          </a:xfrm>
          <a:prstGeom prst="rect">
            <a:avLst/>
          </a:prstGeom>
          <a:noFill/>
          <a:ln/>
        </p:spPr>
        <p:txBody>
          <a:bodyPr wrap="square" lIns="254" tIns="254" rIns="254" bIns="254" rtlCol="0" anchor="t">
            <a:normAutofit/>
          </a:bodyPr>
          <a:lstStyle/>
          <a:p>
            <a:pPr indent="0" marL="0">
              <a:buNone/>
            </a:pPr>
            <a:r>
              <a:rPr lang="en-US" sz="1130" dirty="0">
                <a:solidFill>
                  <a:srgbClr val="1F2A35"/>
                </a:solidFill>
              </a:rPr>
              <a:t>1 = ILA progresiva</a:t>
            </a:r>
            <a:endParaRPr lang="en-US" sz="1130" dirty="0"/>
          </a:p>
          <a:p>
            <a:pPr indent="0" marL="0">
              <a:buNone/>
            </a:pPr>
            <a:r>
              <a:rPr lang="en-US" sz="1130" dirty="0">
                <a:solidFill>
                  <a:srgbClr val="1F2A35"/>
                </a:solidFill>
              </a:rPr>
              <a:t>0 = ILA estable</a:t>
            </a:r>
            <a:endParaRPr lang="en-US" sz="1130" dirty="0"/>
          </a:p>
        </p:txBody>
      </p:sp>
      <p:sp>
        <p:nvSpPr>
          <p:cNvPr id="18" name="Shape 16"/>
          <p:cNvSpPr/>
          <p:nvPr/>
        </p:nvSpPr>
        <p:spPr>
          <a:xfrm>
            <a:off x="658368" y="3337560"/>
            <a:ext cx="5166360" cy="1508760"/>
          </a:xfrm>
          <a:prstGeom prst="roundRect">
            <a:avLst>
              <a:gd name="adj" fmla="val 4848"/>
            </a:avLst>
          </a:prstGeom>
          <a:solidFill>
            <a:srgbClr val="FAEEEE"/>
          </a:solidFill>
          <a:ln w="12700">
            <a:solidFill>
              <a:srgbClr val="E9C9C9"/>
            </a:solidFill>
            <a:prstDash val="solid"/>
          </a:ln>
        </p:spPr>
      </p:sp>
      <p:sp>
        <p:nvSpPr>
          <p:cNvPr id="19" name="Text 17"/>
          <p:cNvSpPr/>
          <p:nvPr/>
        </p:nvSpPr>
        <p:spPr>
          <a:xfrm>
            <a:off x="868680" y="3557016"/>
            <a:ext cx="3566160" cy="256032"/>
          </a:xfrm>
          <a:prstGeom prst="rect">
            <a:avLst/>
          </a:prstGeom>
          <a:noFill/>
          <a:ln/>
        </p:spPr>
        <p:txBody>
          <a:bodyPr wrap="square" lIns="0" tIns="0" rIns="0" bIns="0" rtlCol="0" anchor="ctr"/>
          <a:lstStyle/>
          <a:p>
            <a:pPr indent="0" marL="0">
              <a:buNone/>
            </a:pPr>
            <a:r>
              <a:rPr lang="en-US" sz="1400" b="1" dirty="0">
                <a:solidFill>
                  <a:srgbClr val="B95151"/>
                </a:solidFill>
              </a:rPr>
              <a:t>Excluimos del entrenamiento principal</a:t>
            </a:r>
            <a:endParaRPr lang="en-US" sz="1400" dirty="0"/>
          </a:p>
        </p:txBody>
      </p:sp>
      <p:sp>
        <p:nvSpPr>
          <p:cNvPr id="20" name="Text 18"/>
          <p:cNvSpPr/>
          <p:nvPr/>
        </p:nvSpPr>
        <p:spPr>
          <a:xfrm>
            <a:off x="896112" y="3931920"/>
            <a:ext cx="4480560" cy="566928"/>
          </a:xfrm>
          <a:prstGeom prst="rect">
            <a:avLst/>
          </a:prstGeom>
          <a:noFill/>
          <a:ln/>
        </p:spPr>
        <p:txBody>
          <a:bodyPr wrap="square" lIns="127" tIns="127" rIns="127" bIns="127" rtlCol="0" anchor="ctr"/>
          <a:lstStyle/>
          <a:p>
            <a:pPr indent="0" marL="0">
              <a:buNone/>
            </a:pPr>
            <a:r>
              <a:rPr lang="en-US" sz="1200" dirty="0">
                <a:solidFill>
                  <a:srgbClr val="1F2A35"/>
                </a:solidFill>
              </a:rPr>
              <a:t>• controles sanos</a:t>
            </a:r>
            <a:endParaRPr lang="en-US" sz="1200" dirty="0"/>
          </a:p>
          <a:p>
            <a:pPr indent="0" marL="0">
              <a:buNone/>
            </a:pPr>
            <a:r>
              <a:rPr lang="en-US" sz="1200" dirty="0">
                <a:solidFill>
                  <a:srgbClr val="1F2A35"/>
                </a:solidFill>
              </a:rPr>
              <a:t>• pacientes con EPID ya establecida</a:t>
            </a:r>
            <a:endParaRPr lang="en-US" sz="1200" dirty="0"/>
          </a:p>
        </p:txBody>
      </p:sp>
      <p:sp>
        <p:nvSpPr>
          <p:cNvPr id="21" name="Shape 19"/>
          <p:cNvSpPr/>
          <p:nvPr/>
        </p:nvSpPr>
        <p:spPr>
          <a:xfrm>
            <a:off x="6172200" y="3337560"/>
            <a:ext cx="5138928" cy="1508760"/>
          </a:xfrm>
          <a:prstGeom prst="roundRect">
            <a:avLst>
              <a:gd name="adj" fmla="val 4848"/>
            </a:avLst>
          </a:prstGeom>
          <a:solidFill>
            <a:srgbClr val="EDF7F3"/>
          </a:solidFill>
          <a:ln w="12700">
            <a:solidFill>
              <a:srgbClr val="CBE4D9"/>
            </a:solidFill>
            <a:prstDash val="solid"/>
          </a:ln>
        </p:spPr>
      </p:sp>
      <p:sp>
        <p:nvSpPr>
          <p:cNvPr id="22" name="Text 20"/>
          <p:cNvSpPr/>
          <p:nvPr/>
        </p:nvSpPr>
        <p:spPr>
          <a:xfrm>
            <a:off x="6382512" y="3557016"/>
            <a:ext cx="1188720" cy="256032"/>
          </a:xfrm>
          <a:prstGeom prst="rect">
            <a:avLst/>
          </a:prstGeom>
          <a:noFill/>
          <a:ln/>
        </p:spPr>
        <p:txBody>
          <a:bodyPr wrap="square" lIns="0" tIns="0" rIns="0" bIns="0" rtlCol="0" anchor="ctr"/>
          <a:lstStyle/>
          <a:p>
            <a:pPr indent="0" marL="0">
              <a:buNone/>
            </a:pPr>
            <a:r>
              <a:rPr lang="en-US" sz="1400" b="1" dirty="0">
                <a:solidFill>
                  <a:srgbClr val="2E8B68"/>
                </a:solidFill>
              </a:rPr>
              <a:t>¿Por qué?</a:t>
            </a:r>
            <a:endParaRPr lang="en-US" sz="1400" dirty="0"/>
          </a:p>
        </p:txBody>
      </p:sp>
      <p:sp>
        <p:nvSpPr>
          <p:cNvPr id="23" name="Text 21"/>
          <p:cNvSpPr/>
          <p:nvPr/>
        </p:nvSpPr>
        <p:spPr>
          <a:xfrm>
            <a:off x="6382512" y="3904488"/>
            <a:ext cx="4434840" cy="658368"/>
          </a:xfrm>
          <a:prstGeom prst="rect">
            <a:avLst/>
          </a:prstGeom>
          <a:noFill/>
          <a:ln/>
        </p:spPr>
        <p:txBody>
          <a:bodyPr wrap="square" lIns="0" tIns="0" rIns="0" bIns="0" rtlCol="0" anchor="ctr">
            <a:normAutofit/>
          </a:bodyPr>
          <a:lstStyle/>
          <a:p>
            <a:pPr indent="0" marL="0">
              <a:buNone/>
            </a:pPr>
            <a:r>
              <a:rPr lang="en-US" sz="1150" dirty="0">
                <a:solidFill>
                  <a:srgbClr val="1F2A35"/>
                </a:solidFill>
              </a:rPr>
              <a:t>Porque incluir extremos haría el problema artificialmente fácil. El reto real es discriminar riesgo entre pacientes que ya tienen ILA.</a:t>
            </a:r>
            <a:endParaRPr lang="en-US" sz="1150" dirty="0"/>
          </a:p>
        </p:txBody>
      </p:sp>
      <p:sp>
        <p:nvSpPr>
          <p:cNvPr id="24" name="Shape 22"/>
          <p:cNvSpPr/>
          <p:nvPr/>
        </p:nvSpPr>
        <p:spPr>
          <a:xfrm>
            <a:off x="585216" y="5897880"/>
            <a:ext cx="11018520" cy="457200"/>
          </a:xfrm>
          <a:prstGeom prst="roundRect">
            <a:avLst>
              <a:gd name="adj" fmla="val 16000"/>
            </a:avLst>
          </a:prstGeom>
          <a:solidFill>
            <a:srgbClr val="EAF1F7"/>
          </a:solidFill>
          <a:ln w="12700">
            <a:solidFill>
              <a:srgbClr val="D5E1EB"/>
            </a:solidFill>
            <a:prstDash val="solid"/>
          </a:ln>
        </p:spPr>
      </p:sp>
      <p:sp>
        <p:nvSpPr>
          <p:cNvPr id="25" name="Text 23"/>
          <p:cNvSpPr/>
          <p:nvPr/>
        </p:nvSpPr>
        <p:spPr>
          <a:xfrm>
            <a:off x="749808" y="6007608"/>
            <a:ext cx="10689336" cy="210312"/>
          </a:xfrm>
          <a:prstGeom prst="rect">
            <a:avLst/>
          </a:prstGeom>
          <a:noFill/>
          <a:ln/>
        </p:spPr>
        <p:txBody>
          <a:bodyPr wrap="square" lIns="0" tIns="0" rIns="0" bIns="0" rtlCol="0" anchor="ctr"/>
          <a:lstStyle/>
          <a:p>
            <a:pPr indent="0" marL="0">
              <a:buNone/>
            </a:pPr>
            <a:r>
              <a:rPr lang="en-US" sz="1150" b="1" dirty="0">
                <a:solidFill>
                  <a:srgbClr val="16324F"/>
                </a:solidFill>
              </a:rPr>
              <a:t>Idea clave · el modelo aprende P(progresión) usando únicamente información disponible en el momento basal.</a:t>
            </a:r>
            <a:endParaRPr lang="en-US" sz="1150" dirty="0"/>
          </a:p>
        </p:txBody>
      </p:sp>
      <p:sp>
        <p:nvSpPr>
          <p:cNvPr id="25" name="Slide Number Placeholder 0"/>
          <p:cNvSpPr>
            <a:spLocks noGrp="1"/>
          </p:cNvSpPr>
          <p:nvPr>
            <p:ph type="sldNum" sz="quarter" idx="4294967295"/>
          </p:nvPr>
        </p:nvSpPr>
        <p:spPr>
          <a:xfrm>
            <a:off x="11384280" y="6473952"/>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6A2"/>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47472"/>
            <a:ext cx="8046720" cy="438912"/>
          </a:xfrm>
          <a:prstGeom prst="rect">
            <a:avLst/>
          </a:prstGeom>
          <a:noFill/>
          <a:ln/>
        </p:spPr>
        <p:txBody>
          <a:bodyPr wrap="square" lIns="0" tIns="0" rIns="0" bIns="0" rtlCol="0" anchor="ctr"/>
          <a:lstStyle/>
          <a:p>
            <a:pPr indent="0" marL="0">
              <a:buNone/>
            </a:pPr>
            <a:r>
              <a:rPr lang="en-US" sz="2600" b="1" dirty="0">
                <a:solidFill>
                  <a:srgbClr val="16324F"/>
                </a:solidFill>
                <a:latin typeface="Aptos Display" pitchFamily="34" charset="0"/>
                <a:ea typeface="Aptos Display" pitchFamily="34" charset="-122"/>
                <a:cs typeface="Aptos Display" pitchFamily="34" charset="-120"/>
              </a:rPr>
              <a:t>2. Qué información entra en el modelo</a:t>
            </a:r>
            <a:endParaRPr lang="en-US" sz="2600" dirty="0"/>
          </a:p>
        </p:txBody>
      </p:sp>
      <p:sp>
        <p:nvSpPr>
          <p:cNvPr id="3" name="Text 1"/>
          <p:cNvSpPr/>
          <p:nvPr/>
        </p:nvSpPr>
        <p:spPr>
          <a:xfrm>
            <a:off x="585216" y="841248"/>
            <a:ext cx="10789920" cy="329184"/>
          </a:xfrm>
          <a:prstGeom prst="rect">
            <a:avLst/>
          </a:prstGeom>
          <a:noFill/>
          <a:ln/>
        </p:spPr>
        <p:txBody>
          <a:bodyPr wrap="square" lIns="0" tIns="0" rIns="0" bIns="0" rtlCol="0" anchor="ctr"/>
          <a:lstStyle/>
          <a:p>
            <a:pPr indent="0" marL="0">
              <a:buNone/>
            </a:pPr>
            <a:r>
              <a:rPr lang="en-US" sz="1250" dirty="0">
                <a:solidFill>
                  <a:srgbClr val="687582"/>
                </a:solidFill>
              </a:rPr>
              <a:t>Integramos tres fuentes complementarias y excluimos cualquier dato posterior a la visita inicial.</a:t>
            </a:r>
            <a:endParaRPr lang="en-US" sz="1250" dirty="0"/>
          </a:p>
        </p:txBody>
      </p:sp>
      <p:sp>
        <p:nvSpPr>
          <p:cNvPr id="4" name="Shape 2"/>
          <p:cNvSpPr/>
          <p:nvPr/>
        </p:nvSpPr>
        <p:spPr>
          <a:xfrm>
            <a:off x="621792" y="1353312"/>
            <a:ext cx="3401568" cy="3090672"/>
          </a:xfrm>
          <a:prstGeom prst="roundRect">
            <a:avLst>
              <a:gd name="adj" fmla="val 2367"/>
            </a:avLst>
          </a:prstGeom>
          <a:solidFill>
            <a:srgbClr val="FFFFFF"/>
          </a:solidFill>
          <a:ln w="12700">
            <a:solidFill>
              <a:srgbClr val="DCE3E8"/>
            </a:solidFill>
            <a:prstDash val="solid"/>
          </a:ln>
        </p:spPr>
      </p:sp>
      <p:sp>
        <p:nvSpPr>
          <p:cNvPr id="5" name="Text 3"/>
          <p:cNvSpPr/>
          <p:nvPr/>
        </p:nvSpPr>
        <p:spPr>
          <a:xfrm>
            <a:off x="786384" y="1481328"/>
            <a:ext cx="3072384" cy="164592"/>
          </a:xfrm>
          <a:prstGeom prst="rect">
            <a:avLst/>
          </a:prstGeom>
          <a:noFill/>
          <a:ln/>
        </p:spPr>
        <p:txBody>
          <a:bodyPr wrap="square" lIns="0" tIns="0" rIns="0" bIns="0" rtlCol="0" anchor="ctr"/>
          <a:lstStyle/>
          <a:p>
            <a:pPr indent="0" marL="0">
              <a:buNone/>
            </a:pPr>
            <a:r>
              <a:rPr lang="en-US" sz="900" b="1" dirty="0">
                <a:solidFill>
                  <a:srgbClr val="687582"/>
                </a:solidFill>
              </a:rPr>
              <a:t>CLÍNICA</a:t>
            </a:r>
            <a:endParaRPr lang="en-US" sz="900" dirty="0"/>
          </a:p>
        </p:txBody>
      </p:sp>
      <p:sp>
        <p:nvSpPr>
          <p:cNvPr id="6" name="Text 4"/>
          <p:cNvSpPr/>
          <p:nvPr/>
        </p:nvSpPr>
        <p:spPr>
          <a:xfrm>
            <a:off x="786384" y="1709928"/>
            <a:ext cx="3072384" cy="292608"/>
          </a:xfrm>
          <a:prstGeom prst="rect">
            <a:avLst/>
          </a:prstGeom>
          <a:noFill/>
          <a:ln/>
        </p:spPr>
        <p:txBody>
          <a:bodyPr wrap="square" lIns="0" tIns="0" rIns="0" bIns="0" rtlCol="0" anchor="ctr"/>
          <a:lstStyle/>
          <a:p>
            <a:pPr indent="0" marL="0">
              <a:buNone/>
            </a:pPr>
            <a:r>
              <a:rPr lang="en-US" sz="1600" b="1" dirty="0">
                <a:solidFill>
                  <a:srgbClr val="16324F"/>
                </a:solidFill>
              </a:rPr>
              <a:t>Estado del paciente</a:t>
            </a:r>
            <a:endParaRPr lang="en-US" sz="1600" dirty="0"/>
          </a:p>
        </p:txBody>
      </p:sp>
      <p:sp>
        <p:nvSpPr>
          <p:cNvPr id="7" name="Text 5"/>
          <p:cNvSpPr/>
          <p:nvPr/>
        </p:nvSpPr>
        <p:spPr>
          <a:xfrm>
            <a:off x="786384" y="2103120"/>
            <a:ext cx="3072384" cy="2231136"/>
          </a:xfrm>
          <a:prstGeom prst="rect">
            <a:avLst/>
          </a:prstGeom>
          <a:noFill/>
          <a:ln/>
        </p:spPr>
        <p:txBody>
          <a:bodyPr wrap="square" lIns="254" tIns="254" rIns="254" bIns="254" rtlCol="0" anchor="t">
            <a:normAutofit/>
          </a:bodyPr>
          <a:lstStyle/>
          <a:p>
            <a:pPr indent="0" marL="0">
              <a:buNone/>
            </a:pPr>
            <a:r>
              <a:rPr lang="en-US" sz="1130" dirty="0">
                <a:solidFill>
                  <a:srgbClr val="1F2A35"/>
                </a:solidFill>
              </a:rPr>
              <a:t>Edad</a:t>
            </a:r>
            <a:endParaRPr lang="en-US" sz="1130" dirty="0"/>
          </a:p>
          <a:p>
            <a:pPr indent="0" marL="0">
              <a:buNone/>
            </a:pPr>
            <a:r>
              <a:rPr lang="en-US" sz="1130" dirty="0">
                <a:solidFill>
                  <a:srgbClr val="1F2A35"/>
                </a:solidFill>
              </a:rPr>
              <a:t>Sexo</a:t>
            </a:r>
            <a:endParaRPr lang="en-US" sz="1130" dirty="0"/>
          </a:p>
          <a:p>
            <a:pPr indent="0" marL="0">
              <a:buNone/>
            </a:pPr>
            <a:r>
              <a:rPr lang="en-US" sz="1130" dirty="0">
                <a:solidFill>
                  <a:srgbClr val="1F2A35"/>
                </a:solidFill>
              </a:rPr>
              <a:t>IMC</a:t>
            </a:r>
            <a:endParaRPr lang="en-US" sz="1130" dirty="0"/>
          </a:p>
          <a:p>
            <a:pPr indent="0" marL="0">
              <a:buNone/>
            </a:pPr>
            <a:r>
              <a:rPr lang="en-US" sz="1130" dirty="0">
                <a:solidFill>
                  <a:srgbClr val="1F2A35"/>
                </a:solidFill>
              </a:rPr>
              <a:t>Tabaquismo acumulado</a:t>
            </a:r>
            <a:endParaRPr lang="en-US" sz="1130" dirty="0"/>
          </a:p>
        </p:txBody>
      </p:sp>
      <p:sp>
        <p:nvSpPr>
          <p:cNvPr id="8" name="Shape 6"/>
          <p:cNvSpPr/>
          <p:nvPr/>
        </p:nvSpPr>
        <p:spPr>
          <a:xfrm>
            <a:off x="4389120" y="1353312"/>
            <a:ext cx="3401568" cy="3090672"/>
          </a:xfrm>
          <a:prstGeom prst="roundRect">
            <a:avLst>
              <a:gd name="adj" fmla="val 2367"/>
            </a:avLst>
          </a:prstGeom>
          <a:solidFill>
            <a:srgbClr val="FFFFFF"/>
          </a:solidFill>
          <a:ln w="12700">
            <a:solidFill>
              <a:srgbClr val="DCE3E8"/>
            </a:solidFill>
            <a:prstDash val="solid"/>
          </a:ln>
        </p:spPr>
      </p:sp>
      <p:sp>
        <p:nvSpPr>
          <p:cNvPr id="9" name="Text 7"/>
          <p:cNvSpPr/>
          <p:nvPr/>
        </p:nvSpPr>
        <p:spPr>
          <a:xfrm>
            <a:off x="4553712" y="1481328"/>
            <a:ext cx="3072384" cy="164592"/>
          </a:xfrm>
          <a:prstGeom prst="rect">
            <a:avLst/>
          </a:prstGeom>
          <a:noFill/>
          <a:ln/>
        </p:spPr>
        <p:txBody>
          <a:bodyPr wrap="square" lIns="0" tIns="0" rIns="0" bIns="0" rtlCol="0" anchor="ctr"/>
          <a:lstStyle/>
          <a:p>
            <a:pPr indent="0" marL="0">
              <a:buNone/>
            </a:pPr>
            <a:r>
              <a:rPr lang="en-US" sz="900" b="1" dirty="0">
                <a:solidFill>
                  <a:srgbClr val="687582"/>
                </a:solidFill>
              </a:rPr>
              <a:t>FUNCIÓN + IMAGEN</a:t>
            </a:r>
            <a:endParaRPr lang="en-US" sz="900" dirty="0"/>
          </a:p>
        </p:txBody>
      </p:sp>
      <p:sp>
        <p:nvSpPr>
          <p:cNvPr id="10" name="Text 8"/>
          <p:cNvSpPr/>
          <p:nvPr/>
        </p:nvSpPr>
        <p:spPr>
          <a:xfrm>
            <a:off x="4553712" y="1709928"/>
            <a:ext cx="3072384" cy="292608"/>
          </a:xfrm>
          <a:prstGeom prst="rect">
            <a:avLst/>
          </a:prstGeom>
          <a:noFill/>
          <a:ln/>
        </p:spPr>
        <p:txBody>
          <a:bodyPr wrap="square" lIns="0" tIns="0" rIns="0" bIns="0" rtlCol="0" anchor="ctr"/>
          <a:lstStyle/>
          <a:p>
            <a:pPr indent="0" marL="0">
              <a:buNone/>
            </a:pPr>
            <a:r>
              <a:rPr lang="en-US" sz="1600" b="1" dirty="0">
                <a:solidFill>
                  <a:srgbClr val="16324F"/>
                </a:solidFill>
              </a:rPr>
              <a:t>Pulmón</a:t>
            </a:r>
            <a:endParaRPr lang="en-US" sz="1600" dirty="0"/>
          </a:p>
        </p:txBody>
      </p:sp>
      <p:sp>
        <p:nvSpPr>
          <p:cNvPr id="11" name="Text 9"/>
          <p:cNvSpPr/>
          <p:nvPr/>
        </p:nvSpPr>
        <p:spPr>
          <a:xfrm>
            <a:off x="4553712" y="2103120"/>
            <a:ext cx="3072384" cy="2231136"/>
          </a:xfrm>
          <a:prstGeom prst="rect">
            <a:avLst/>
          </a:prstGeom>
          <a:noFill/>
          <a:ln/>
        </p:spPr>
        <p:txBody>
          <a:bodyPr wrap="square" lIns="254" tIns="254" rIns="254" bIns="254" rtlCol="0" anchor="t">
            <a:normAutofit/>
          </a:bodyPr>
          <a:lstStyle/>
          <a:p>
            <a:pPr indent="0" marL="0">
              <a:buNone/>
            </a:pPr>
            <a:r>
              <a:rPr lang="en-US" sz="1130" dirty="0">
                <a:solidFill>
                  <a:srgbClr val="1F2A35"/>
                </a:solidFill>
              </a:rPr>
              <a:t>FVC basal</a:t>
            </a:r>
            <a:endParaRPr lang="en-US" sz="1130" dirty="0"/>
          </a:p>
          <a:p>
            <a:pPr indent="0" marL="0">
              <a:buNone/>
            </a:pPr>
            <a:r>
              <a:rPr lang="en-US" sz="1130" dirty="0">
                <a:solidFill>
                  <a:srgbClr val="1F2A35"/>
                </a:solidFill>
              </a:rPr>
              <a:t>DLCO basal</a:t>
            </a:r>
            <a:endParaRPr lang="en-US" sz="1130" dirty="0"/>
          </a:p>
          <a:p>
            <a:pPr indent="0" marL="0">
              <a:buNone/>
            </a:pPr>
            <a:r>
              <a:rPr lang="en-US" sz="1130" dirty="0">
                <a:solidFill>
                  <a:srgbClr val="1F2A35"/>
                </a:solidFill>
              </a:rPr>
              <a:t>Patrón de TC</a:t>
            </a:r>
            <a:endParaRPr lang="en-US" sz="1130" dirty="0"/>
          </a:p>
        </p:txBody>
      </p:sp>
      <p:sp>
        <p:nvSpPr>
          <p:cNvPr id="12" name="Shape 10"/>
          <p:cNvSpPr/>
          <p:nvPr/>
        </p:nvSpPr>
        <p:spPr>
          <a:xfrm>
            <a:off x="8156448" y="1353312"/>
            <a:ext cx="3401568" cy="3090672"/>
          </a:xfrm>
          <a:prstGeom prst="roundRect">
            <a:avLst>
              <a:gd name="adj" fmla="val 2367"/>
            </a:avLst>
          </a:prstGeom>
          <a:solidFill>
            <a:srgbClr val="FFFFFF"/>
          </a:solidFill>
          <a:ln w="12700">
            <a:solidFill>
              <a:srgbClr val="BFD0DE"/>
            </a:solidFill>
            <a:prstDash val="solid"/>
          </a:ln>
        </p:spPr>
      </p:sp>
      <p:sp>
        <p:nvSpPr>
          <p:cNvPr id="13" name="Text 11"/>
          <p:cNvSpPr/>
          <p:nvPr/>
        </p:nvSpPr>
        <p:spPr>
          <a:xfrm>
            <a:off x="8321040" y="1481328"/>
            <a:ext cx="3072384" cy="164592"/>
          </a:xfrm>
          <a:prstGeom prst="rect">
            <a:avLst/>
          </a:prstGeom>
          <a:noFill/>
          <a:ln/>
        </p:spPr>
        <p:txBody>
          <a:bodyPr wrap="square" lIns="0" tIns="0" rIns="0" bIns="0" rtlCol="0" anchor="ctr"/>
          <a:lstStyle/>
          <a:p>
            <a:pPr indent="0" marL="0">
              <a:buNone/>
            </a:pPr>
            <a:r>
              <a:rPr lang="en-US" sz="900" b="1" dirty="0">
                <a:solidFill>
                  <a:srgbClr val="687582"/>
                </a:solidFill>
              </a:rPr>
              <a:t>PROTEÓMICA</a:t>
            </a:r>
            <a:endParaRPr lang="en-US" sz="900" dirty="0"/>
          </a:p>
        </p:txBody>
      </p:sp>
      <p:sp>
        <p:nvSpPr>
          <p:cNvPr id="14" name="Text 12"/>
          <p:cNvSpPr/>
          <p:nvPr/>
        </p:nvSpPr>
        <p:spPr>
          <a:xfrm>
            <a:off x="8321040" y="1709928"/>
            <a:ext cx="3072384" cy="292608"/>
          </a:xfrm>
          <a:prstGeom prst="rect">
            <a:avLst/>
          </a:prstGeom>
          <a:noFill/>
          <a:ln/>
        </p:spPr>
        <p:txBody>
          <a:bodyPr wrap="square" lIns="0" tIns="0" rIns="0" bIns="0" rtlCol="0" anchor="ctr"/>
          <a:lstStyle/>
          <a:p>
            <a:pPr indent="0" marL="0">
              <a:buNone/>
            </a:pPr>
            <a:r>
              <a:rPr lang="en-US" sz="1600" b="1" dirty="0">
                <a:solidFill>
                  <a:srgbClr val="16324F"/>
                </a:solidFill>
              </a:rPr>
              <a:t>Firma molecular</a:t>
            </a:r>
            <a:endParaRPr lang="en-US" sz="1600" dirty="0"/>
          </a:p>
        </p:txBody>
      </p:sp>
      <p:sp>
        <p:nvSpPr>
          <p:cNvPr id="15" name="Text 13"/>
          <p:cNvSpPr/>
          <p:nvPr/>
        </p:nvSpPr>
        <p:spPr>
          <a:xfrm>
            <a:off x="8321040" y="2103120"/>
            <a:ext cx="3072384" cy="2231136"/>
          </a:xfrm>
          <a:prstGeom prst="rect">
            <a:avLst/>
          </a:prstGeom>
          <a:noFill/>
          <a:ln/>
        </p:spPr>
        <p:txBody>
          <a:bodyPr wrap="square" lIns="254" tIns="254" rIns="254" bIns="254" rtlCol="0" anchor="t">
            <a:normAutofit/>
          </a:bodyPr>
          <a:lstStyle/>
          <a:p>
            <a:pPr indent="0" marL="0">
              <a:buNone/>
            </a:pPr>
            <a:r>
              <a:rPr lang="en-US" sz="1130" dirty="0">
                <a:solidFill>
                  <a:srgbClr val="1F2A35"/>
                </a:solidFill>
              </a:rPr>
              <a:t>SFTPB</a:t>
            </a:r>
            <a:endParaRPr lang="en-US" sz="1130" dirty="0"/>
          </a:p>
          <a:p>
            <a:pPr indent="0" marL="0">
              <a:buNone/>
            </a:pPr>
            <a:r>
              <a:rPr lang="en-US" sz="1130" dirty="0">
                <a:solidFill>
                  <a:srgbClr val="1F2A35"/>
                </a:solidFill>
              </a:rPr>
              <a:t>GDF15</a:t>
            </a:r>
            <a:endParaRPr lang="en-US" sz="1130" dirty="0"/>
          </a:p>
          <a:p>
            <a:pPr indent="0" marL="0">
              <a:buNone/>
            </a:pPr>
            <a:r>
              <a:rPr lang="en-US" sz="1130" dirty="0">
                <a:solidFill>
                  <a:srgbClr val="1F2A35"/>
                </a:solidFill>
              </a:rPr>
              <a:t>MMP7</a:t>
            </a:r>
            <a:endParaRPr lang="en-US" sz="1130" dirty="0"/>
          </a:p>
          <a:p>
            <a:pPr indent="0" marL="0">
              <a:buNone/>
            </a:pPr>
            <a:r>
              <a:rPr lang="en-US" sz="1130" dirty="0">
                <a:solidFill>
                  <a:srgbClr val="1F2A35"/>
                </a:solidFill>
              </a:rPr>
              <a:t>SFTPD</a:t>
            </a:r>
            <a:endParaRPr lang="en-US" sz="1130" dirty="0"/>
          </a:p>
        </p:txBody>
      </p:sp>
      <p:sp>
        <p:nvSpPr>
          <p:cNvPr id="16" name="Shape 14"/>
          <p:cNvSpPr/>
          <p:nvPr/>
        </p:nvSpPr>
        <p:spPr>
          <a:xfrm>
            <a:off x="621792" y="4709160"/>
            <a:ext cx="10936224" cy="777240"/>
          </a:xfrm>
          <a:prstGeom prst="roundRect">
            <a:avLst>
              <a:gd name="adj" fmla="val 9412"/>
            </a:avLst>
          </a:prstGeom>
          <a:solidFill>
            <a:srgbClr val="FAEEEE"/>
          </a:solidFill>
          <a:ln w="12700">
            <a:solidFill>
              <a:srgbClr val="E7C6C6"/>
            </a:solidFill>
            <a:prstDash val="solid"/>
          </a:ln>
        </p:spPr>
      </p:sp>
      <p:sp>
        <p:nvSpPr>
          <p:cNvPr id="17" name="Text 15"/>
          <p:cNvSpPr/>
          <p:nvPr/>
        </p:nvSpPr>
        <p:spPr>
          <a:xfrm>
            <a:off x="868680" y="4937760"/>
            <a:ext cx="10424160" cy="274320"/>
          </a:xfrm>
          <a:prstGeom prst="rect">
            <a:avLst/>
          </a:prstGeom>
          <a:noFill/>
          <a:ln/>
        </p:spPr>
        <p:txBody>
          <a:bodyPr wrap="square" lIns="0" tIns="0" rIns="0" bIns="0" rtlCol="0" anchor="ctr"/>
          <a:lstStyle/>
          <a:p>
            <a:pPr indent="0" marL="0">
              <a:buNone/>
            </a:pPr>
            <a:r>
              <a:rPr lang="en-US" sz="1240" b="1" dirty="0">
                <a:solidFill>
                  <a:srgbClr val="B95151"/>
                </a:solidFill>
              </a:rPr>
              <a:t>NO usamos: FVC de visitas posteriores, delta FVC, tiempos hasta seguimiento ni ninguna variable de futuro.</a:t>
            </a:r>
            <a:endParaRPr lang="en-US" sz="1240" dirty="0"/>
          </a:p>
        </p:txBody>
      </p:sp>
      <p:sp>
        <p:nvSpPr>
          <p:cNvPr id="18" name="Shape 16"/>
          <p:cNvSpPr/>
          <p:nvPr/>
        </p:nvSpPr>
        <p:spPr>
          <a:xfrm>
            <a:off x="621792" y="5779008"/>
            <a:ext cx="10936224" cy="457200"/>
          </a:xfrm>
          <a:prstGeom prst="roundRect">
            <a:avLst>
              <a:gd name="adj" fmla="val 16000"/>
            </a:avLst>
          </a:prstGeom>
          <a:solidFill>
            <a:srgbClr val="EAF1F7"/>
          </a:solidFill>
          <a:ln w="12700">
            <a:solidFill>
              <a:srgbClr val="D5E1EB"/>
            </a:solidFill>
            <a:prstDash val="solid"/>
          </a:ln>
        </p:spPr>
      </p:sp>
      <p:sp>
        <p:nvSpPr>
          <p:cNvPr id="19" name="Text 17"/>
          <p:cNvSpPr/>
          <p:nvPr/>
        </p:nvSpPr>
        <p:spPr>
          <a:xfrm>
            <a:off x="786384" y="5888736"/>
            <a:ext cx="10607040" cy="210312"/>
          </a:xfrm>
          <a:prstGeom prst="rect">
            <a:avLst/>
          </a:prstGeom>
          <a:noFill/>
          <a:ln/>
        </p:spPr>
        <p:txBody>
          <a:bodyPr wrap="square" lIns="0" tIns="0" rIns="0" bIns="0" rtlCol="0" anchor="ctr"/>
          <a:lstStyle/>
          <a:p>
            <a:pPr indent="0" marL="0">
              <a:buNone/>
            </a:pPr>
            <a:r>
              <a:rPr lang="en-US" sz="1150" b="1" dirty="0">
                <a:solidFill>
                  <a:srgbClr val="16324F"/>
                </a:solidFill>
              </a:rPr>
              <a:t>Idea clave · si una variable no estaría disponible cuando queremos predecir, no puede entrar en el modelo.</a:t>
            </a:r>
            <a:endParaRPr lang="en-US" sz="1150" dirty="0"/>
          </a:p>
        </p:txBody>
      </p:sp>
      <p:sp>
        <p:nvSpPr>
          <p:cNvPr id="25" name="Slide Number Placeholder 0"/>
          <p:cNvSpPr>
            <a:spLocks noGrp="1"/>
          </p:cNvSpPr>
          <p:nvPr>
            <p:ph type="sldNum" sz="quarter" idx="4294967295"/>
          </p:nvPr>
        </p:nvSpPr>
        <p:spPr>
          <a:xfrm>
            <a:off x="11384280" y="6473952"/>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6A2"/>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47472"/>
            <a:ext cx="8046720" cy="438912"/>
          </a:xfrm>
          <a:prstGeom prst="rect">
            <a:avLst/>
          </a:prstGeom>
          <a:noFill/>
          <a:ln/>
        </p:spPr>
        <p:txBody>
          <a:bodyPr wrap="square" lIns="0" tIns="0" rIns="0" bIns="0" rtlCol="0" anchor="ctr"/>
          <a:lstStyle/>
          <a:p>
            <a:pPr indent="0" marL="0">
              <a:buNone/>
            </a:pPr>
            <a:r>
              <a:rPr lang="en-US" sz="2600" b="1" dirty="0">
                <a:solidFill>
                  <a:srgbClr val="16324F"/>
                </a:solidFill>
                <a:latin typeface="Aptos Display" pitchFamily="34" charset="0"/>
                <a:ea typeface="Aptos Display" pitchFamily="34" charset="-122"/>
                <a:cs typeface="Aptos Display" pitchFamily="34" charset="-120"/>
              </a:rPr>
              <a:t>3. Preparamos los datos sin “mirar” al paciente de test</a:t>
            </a:r>
            <a:endParaRPr lang="en-US" sz="2600" dirty="0"/>
          </a:p>
        </p:txBody>
      </p:sp>
      <p:sp>
        <p:nvSpPr>
          <p:cNvPr id="3" name="Text 1"/>
          <p:cNvSpPr/>
          <p:nvPr/>
        </p:nvSpPr>
        <p:spPr>
          <a:xfrm>
            <a:off x="585216" y="841248"/>
            <a:ext cx="10789920" cy="329184"/>
          </a:xfrm>
          <a:prstGeom prst="rect">
            <a:avLst/>
          </a:prstGeom>
          <a:noFill/>
          <a:ln/>
        </p:spPr>
        <p:txBody>
          <a:bodyPr wrap="square" lIns="0" tIns="0" rIns="0" bIns="0" rtlCol="0" anchor="ctr"/>
          <a:lstStyle/>
          <a:p>
            <a:pPr indent="0" marL="0">
              <a:buNone/>
            </a:pPr>
            <a:r>
              <a:rPr lang="en-US" sz="1250" dirty="0">
                <a:solidFill>
                  <a:srgbClr val="687582"/>
                </a:solidFill>
              </a:rPr>
              <a:t>Todo el preprocesado se aprende exclusivamente con los pacientes del training fold.</a:t>
            </a:r>
            <a:endParaRPr lang="en-US" sz="1250" dirty="0"/>
          </a:p>
        </p:txBody>
      </p:sp>
      <p:sp>
        <p:nvSpPr>
          <p:cNvPr id="4" name="Shape 2"/>
          <p:cNvSpPr/>
          <p:nvPr/>
        </p:nvSpPr>
        <p:spPr>
          <a:xfrm>
            <a:off x="621792" y="1325880"/>
            <a:ext cx="2331720" cy="1143000"/>
          </a:xfrm>
          <a:prstGeom prst="roundRect">
            <a:avLst>
              <a:gd name="adj" fmla="val 6400"/>
            </a:avLst>
          </a:prstGeom>
          <a:solidFill>
            <a:srgbClr val="FFFFFF"/>
          </a:solidFill>
          <a:ln w="12700">
            <a:solidFill>
              <a:srgbClr val="DCE3E8"/>
            </a:solidFill>
            <a:prstDash val="solid"/>
          </a:ln>
        </p:spPr>
      </p:sp>
      <p:sp>
        <p:nvSpPr>
          <p:cNvPr id="5" name="Text 3"/>
          <p:cNvSpPr/>
          <p:nvPr/>
        </p:nvSpPr>
        <p:spPr>
          <a:xfrm>
            <a:off x="786384" y="1453896"/>
            <a:ext cx="2002536" cy="164592"/>
          </a:xfrm>
          <a:prstGeom prst="rect">
            <a:avLst/>
          </a:prstGeom>
          <a:noFill/>
          <a:ln/>
        </p:spPr>
        <p:txBody>
          <a:bodyPr wrap="square" lIns="0" tIns="0" rIns="0" bIns="0" rtlCol="0" anchor="ctr"/>
          <a:lstStyle/>
          <a:p>
            <a:pPr indent="0" marL="0">
              <a:buNone/>
            </a:pPr>
            <a:r>
              <a:rPr lang="en-US" sz="900" b="1" dirty="0">
                <a:solidFill>
                  <a:srgbClr val="687582"/>
                </a:solidFill>
              </a:rPr>
              <a:t>CONTROL DE CALIDAD</a:t>
            </a:r>
            <a:endParaRPr lang="en-US" sz="900" dirty="0"/>
          </a:p>
        </p:txBody>
      </p:sp>
      <p:sp>
        <p:nvSpPr>
          <p:cNvPr id="6" name="Text 4"/>
          <p:cNvSpPr/>
          <p:nvPr/>
        </p:nvSpPr>
        <p:spPr>
          <a:xfrm>
            <a:off x="786384" y="1682496"/>
            <a:ext cx="2002536" cy="292608"/>
          </a:xfrm>
          <a:prstGeom prst="rect">
            <a:avLst/>
          </a:prstGeom>
          <a:noFill/>
          <a:ln/>
        </p:spPr>
        <p:txBody>
          <a:bodyPr wrap="square" lIns="0" tIns="0" rIns="0" bIns="0" rtlCol="0" anchor="ctr"/>
          <a:lstStyle/>
          <a:p>
            <a:pPr indent="0" marL="0">
              <a:buNone/>
            </a:pPr>
            <a:r>
              <a:rPr lang="en-US" sz="2200" b="1" dirty="0">
                <a:solidFill>
                  <a:srgbClr val="16324F"/>
                </a:solidFill>
              </a:rPr>
              <a:t>1,99%</a:t>
            </a:r>
            <a:endParaRPr lang="en-US" sz="2200" dirty="0"/>
          </a:p>
        </p:txBody>
      </p:sp>
      <p:sp>
        <p:nvSpPr>
          <p:cNvPr id="7" name="Text 5"/>
          <p:cNvSpPr/>
          <p:nvPr/>
        </p:nvSpPr>
        <p:spPr>
          <a:xfrm>
            <a:off x="786384" y="2075688"/>
            <a:ext cx="2002536" cy="283464"/>
          </a:xfrm>
          <a:prstGeom prst="rect">
            <a:avLst/>
          </a:prstGeom>
          <a:noFill/>
          <a:ln/>
        </p:spPr>
        <p:txBody>
          <a:bodyPr wrap="square" lIns="254" tIns="254" rIns="254" bIns="254" rtlCol="0" anchor="t">
            <a:normAutofit/>
          </a:bodyPr>
          <a:lstStyle/>
          <a:p>
            <a:pPr indent="0" marL="0">
              <a:buNone/>
            </a:pPr>
            <a:r>
              <a:rPr lang="en-US" sz="1050" dirty="0">
                <a:solidFill>
                  <a:srgbClr val="1F2A35"/>
                </a:solidFill>
              </a:rPr>
              <a:t>missingness proteómico global</a:t>
            </a:r>
            <a:endParaRPr lang="en-US" sz="1050" dirty="0"/>
          </a:p>
        </p:txBody>
      </p:sp>
      <p:sp>
        <p:nvSpPr>
          <p:cNvPr id="8" name="Shape 6"/>
          <p:cNvSpPr/>
          <p:nvPr/>
        </p:nvSpPr>
        <p:spPr>
          <a:xfrm>
            <a:off x="3182112" y="1325880"/>
            <a:ext cx="2331720" cy="1143000"/>
          </a:xfrm>
          <a:prstGeom prst="roundRect">
            <a:avLst>
              <a:gd name="adj" fmla="val 6400"/>
            </a:avLst>
          </a:prstGeom>
          <a:solidFill>
            <a:srgbClr val="FFFFFF"/>
          </a:solidFill>
          <a:ln w="12700">
            <a:solidFill>
              <a:srgbClr val="DCE3E8"/>
            </a:solidFill>
            <a:prstDash val="solid"/>
          </a:ln>
        </p:spPr>
      </p:sp>
      <p:sp>
        <p:nvSpPr>
          <p:cNvPr id="9" name="Text 7"/>
          <p:cNvSpPr/>
          <p:nvPr/>
        </p:nvSpPr>
        <p:spPr>
          <a:xfrm>
            <a:off x="3346704" y="1453896"/>
            <a:ext cx="2002536" cy="164592"/>
          </a:xfrm>
          <a:prstGeom prst="rect">
            <a:avLst/>
          </a:prstGeom>
          <a:noFill/>
          <a:ln/>
        </p:spPr>
        <p:txBody>
          <a:bodyPr wrap="square" lIns="0" tIns="0" rIns="0" bIns="0" rtlCol="0" anchor="ctr"/>
          <a:lstStyle/>
          <a:p>
            <a:pPr indent="0" marL="0">
              <a:buNone/>
            </a:pPr>
            <a:r>
              <a:rPr lang="en-US" sz="900" b="1" dirty="0">
                <a:solidFill>
                  <a:srgbClr val="687582"/>
                </a:solidFill>
              </a:rPr>
              <a:t>CONTROL DE CALIDAD</a:t>
            </a:r>
            <a:endParaRPr lang="en-US" sz="900" dirty="0"/>
          </a:p>
        </p:txBody>
      </p:sp>
      <p:sp>
        <p:nvSpPr>
          <p:cNvPr id="10" name="Text 8"/>
          <p:cNvSpPr/>
          <p:nvPr/>
        </p:nvSpPr>
        <p:spPr>
          <a:xfrm>
            <a:off x="3346704" y="1682496"/>
            <a:ext cx="2002536" cy="292608"/>
          </a:xfrm>
          <a:prstGeom prst="rect">
            <a:avLst/>
          </a:prstGeom>
          <a:noFill/>
          <a:ln/>
        </p:spPr>
        <p:txBody>
          <a:bodyPr wrap="square" lIns="0" tIns="0" rIns="0" bIns="0" rtlCol="0" anchor="ctr"/>
          <a:lstStyle/>
          <a:p>
            <a:pPr indent="0" marL="0">
              <a:buNone/>
            </a:pPr>
            <a:r>
              <a:rPr lang="en-US" sz="2200" b="1" dirty="0">
                <a:solidFill>
                  <a:srgbClr val="16324F"/>
                </a:solidFill>
              </a:rPr>
              <a:t>0</a:t>
            </a:r>
            <a:endParaRPr lang="en-US" sz="2200" dirty="0"/>
          </a:p>
        </p:txBody>
      </p:sp>
      <p:sp>
        <p:nvSpPr>
          <p:cNvPr id="11" name="Text 9"/>
          <p:cNvSpPr/>
          <p:nvPr/>
        </p:nvSpPr>
        <p:spPr>
          <a:xfrm>
            <a:off x="3346704" y="2075688"/>
            <a:ext cx="2002536" cy="283464"/>
          </a:xfrm>
          <a:prstGeom prst="rect">
            <a:avLst/>
          </a:prstGeom>
          <a:noFill/>
          <a:ln/>
        </p:spPr>
        <p:txBody>
          <a:bodyPr wrap="square" lIns="254" tIns="254" rIns="254" bIns="254" rtlCol="0" anchor="t">
            <a:normAutofit/>
          </a:bodyPr>
          <a:lstStyle/>
          <a:p>
            <a:pPr indent="0" marL="0">
              <a:buNone/>
            </a:pPr>
            <a:r>
              <a:rPr lang="en-US" sz="1050" dirty="0">
                <a:solidFill>
                  <a:srgbClr val="1F2A35"/>
                </a:solidFill>
              </a:rPr>
              <a:t>proteínas con &gt;20% de NA</a:t>
            </a:r>
            <a:endParaRPr lang="en-US" sz="1050" dirty="0"/>
          </a:p>
        </p:txBody>
      </p:sp>
      <p:sp>
        <p:nvSpPr>
          <p:cNvPr id="12" name="Shape 10"/>
          <p:cNvSpPr/>
          <p:nvPr/>
        </p:nvSpPr>
        <p:spPr>
          <a:xfrm>
            <a:off x="5742432" y="1325880"/>
            <a:ext cx="2331720" cy="1143000"/>
          </a:xfrm>
          <a:prstGeom prst="roundRect">
            <a:avLst>
              <a:gd name="adj" fmla="val 6400"/>
            </a:avLst>
          </a:prstGeom>
          <a:solidFill>
            <a:srgbClr val="FFFFFF"/>
          </a:solidFill>
          <a:ln w="12700">
            <a:solidFill>
              <a:srgbClr val="DCE3E8"/>
            </a:solidFill>
            <a:prstDash val="solid"/>
          </a:ln>
        </p:spPr>
      </p:sp>
      <p:sp>
        <p:nvSpPr>
          <p:cNvPr id="13" name="Text 11"/>
          <p:cNvSpPr/>
          <p:nvPr/>
        </p:nvSpPr>
        <p:spPr>
          <a:xfrm>
            <a:off x="5907024" y="1453896"/>
            <a:ext cx="2002536" cy="164592"/>
          </a:xfrm>
          <a:prstGeom prst="rect">
            <a:avLst/>
          </a:prstGeom>
          <a:noFill/>
          <a:ln/>
        </p:spPr>
        <p:txBody>
          <a:bodyPr wrap="square" lIns="0" tIns="0" rIns="0" bIns="0" rtlCol="0" anchor="ctr"/>
          <a:lstStyle/>
          <a:p>
            <a:pPr indent="0" marL="0">
              <a:buNone/>
            </a:pPr>
            <a:r>
              <a:rPr lang="en-US" sz="900" b="1" dirty="0">
                <a:solidFill>
                  <a:srgbClr val="687582"/>
                </a:solidFill>
              </a:rPr>
              <a:t>CONTROL DE CALIDAD</a:t>
            </a:r>
            <a:endParaRPr lang="en-US" sz="900" dirty="0"/>
          </a:p>
        </p:txBody>
      </p:sp>
      <p:sp>
        <p:nvSpPr>
          <p:cNvPr id="14" name="Text 12"/>
          <p:cNvSpPr/>
          <p:nvPr/>
        </p:nvSpPr>
        <p:spPr>
          <a:xfrm>
            <a:off x="5907024" y="1682496"/>
            <a:ext cx="2002536" cy="292608"/>
          </a:xfrm>
          <a:prstGeom prst="rect">
            <a:avLst/>
          </a:prstGeom>
          <a:noFill/>
          <a:ln/>
        </p:spPr>
        <p:txBody>
          <a:bodyPr wrap="square" lIns="0" tIns="0" rIns="0" bIns="0" rtlCol="0" anchor="ctr"/>
          <a:lstStyle/>
          <a:p>
            <a:pPr indent="0" marL="0">
              <a:buNone/>
            </a:pPr>
            <a:r>
              <a:rPr lang="en-US" sz="2200" b="1" dirty="0">
                <a:solidFill>
                  <a:srgbClr val="16324F"/>
                </a:solidFill>
              </a:rPr>
              <a:t>0</a:t>
            </a:r>
            <a:endParaRPr lang="en-US" sz="2200" dirty="0"/>
          </a:p>
        </p:txBody>
      </p:sp>
      <p:sp>
        <p:nvSpPr>
          <p:cNvPr id="15" name="Text 13"/>
          <p:cNvSpPr/>
          <p:nvPr/>
        </p:nvSpPr>
        <p:spPr>
          <a:xfrm>
            <a:off x="5907024" y="2075688"/>
            <a:ext cx="2002536" cy="283464"/>
          </a:xfrm>
          <a:prstGeom prst="rect">
            <a:avLst/>
          </a:prstGeom>
          <a:noFill/>
          <a:ln/>
        </p:spPr>
        <p:txBody>
          <a:bodyPr wrap="square" lIns="254" tIns="254" rIns="254" bIns="254" rtlCol="0" anchor="t">
            <a:normAutofit/>
          </a:bodyPr>
          <a:lstStyle/>
          <a:p>
            <a:pPr indent="0" marL="0">
              <a:buNone/>
            </a:pPr>
            <a:r>
              <a:rPr lang="en-US" sz="1050" dirty="0">
                <a:solidFill>
                  <a:srgbClr val="1F2A35"/>
                </a:solidFill>
              </a:rPr>
              <a:t>proteínas de varianza casi nula</a:t>
            </a:r>
            <a:endParaRPr lang="en-US" sz="1050" dirty="0"/>
          </a:p>
        </p:txBody>
      </p:sp>
      <p:sp>
        <p:nvSpPr>
          <p:cNvPr id="16" name="Shape 14"/>
          <p:cNvSpPr/>
          <p:nvPr/>
        </p:nvSpPr>
        <p:spPr>
          <a:xfrm>
            <a:off x="8302752" y="1325880"/>
            <a:ext cx="3246120" cy="1143000"/>
          </a:xfrm>
          <a:prstGeom prst="roundRect">
            <a:avLst>
              <a:gd name="adj" fmla="val 6400"/>
            </a:avLst>
          </a:prstGeom>
          <a:solidFill>
            <a:srgbClr val="FFFFFF"/>
          </a:solidFill>
          <a:ln w="12700">
            <a:solidFill>
              <a:srgbClr val="DCE3E8"/>
            </a:solidFill>
            <a:prstDash val="solid"/>
          </a:ln>
        </p:spPr>
      </p:sp>
      <p:sp>
        <p:nvSpPr>
          <p:cNvPr id="17" name="Text 15"/>
          <p:cNvSpPr/>
          <p:nvPr/>
        </p:nvSpPr>
        <p:spPr>
          <a:xfrm>
            <a:off x="8467344" y="1453896"/>
            <a:ext cx="2916936" cy="164592"/>
          </a:xfrm>
          <a:prstGeom prst="rect">
            <a:avLst/>
          </a:prstGeom>
          <a:noFill/>
          <a:ln/>
        </p:spPr>
        <p:txBody>
          <a:bodyPr wrap="square" lIns="0" tIns="0" rIns="0" bIns="0" rtlCol="0" anchor="ctr"/>
          <a:lstStyle/>
          <a:p>
            <a:pPr indent="0" marL="0">
              <a:buNone/>
            </a:pPr>
            <a:r>
              <a:rPr lang="en-US" sz="900" b="1" dirty="0">
                <a:solidFill>
                  <a:srgbClr val="687582"/>
                </a:solidFill>
              </a:rPr>
              <a:t>OLINK</a:t>
            </a:r>
            <a:endParaRPr lang="en-US" sz="900" dirty="0"/>
          </a:p>
        </p:txBody>
      </p:sp>
      <p:sp>
        <p:nvSpPr>
          <p:cNvPr id="18" name="Text 16"/>
          <p:cNvSpPr/>
          <p:nvPr/>
        </p:nvSpPr>
        <p:spPr>
          <a:xfrm>
            <a:off x="8467344" y="1682496"/>
            <a:ext cx="2916936" cy="292608"/>
          </a:xfrm>
          <a:prstGeom prst="rect">
            <a:avLst/>
          </a:prstGeom>
          <a:noFill/>
          <a:ln/>
        </p:spPr>
        <p:txBody>
          <a:bodyPr wrap="square" lIns="0" tIns="0" rIns="0" bIns="0" rtlCol="0" anchor="ctr"/>
          <a:lstStyle/>
          <a:p>
            <a:pPr indent="0" marL="0">
              <a:buNone/>
            </a:pPr>
            <a:r>
              <a:rPr lang="en-US" sz="2000" b="1" dirty="0">
                <a:solidFill>
                  <a:srgbClr val="16324F"/>
                </a:solidFill>
              </a:rPr>
              <a:t>2.944 proteínas</a:t>
            </a:r>
            <a:endParaRPr lang="en-US" sz="2000" dirty="0"/>
          </a:p>
        </p:txBody>
      </p:sp>
      <p:sp>
        <p:nvSpPr>
          <p:cNvPr id="19" name="Text 17"/>
          <p:cNvSpPr/>
          <p:nvPr/>
        </p:nvSpPr>
        <p:spPr>
          <a:xfrm>
            <a:off x="8467344" y="2075688"/>
            <a:ext cx="2916936" cy="283464"/>
          </a:xfrm>
          <a:prstGeom prst="rect">
            <a:avLst/>
          </a:prstGeom>
          <a:noFill/>
          <a:ln/>
        </p:spPr>
        <p:txBody>
          <a:bodyPr wrap="square" lIns="254" tIns="254" rIns="254" bIns="254" rtlCol="0" anchor="t">
            <a:normAutofit/>
          </a:bodyPr>
          <a:lstStyle/>
          <a:p>
            <a:pPr indent="0" marL="0">
              <a:buNone/>
            </a:pPr>
            <a:r>
              <a:rPr lang="en-US" sz="1050" dirty="0">
                <a:solidFill>
                  <a:srgbClr val="1F2A35"/>
                </a:solidFill>
              </a:rPr>
              <a:t>medidas en escala NPX</a:t>
            </a:r>
            <a:endParaRPr lang="en-US" sz="1050" dirty="0"/>
          </a:p>
        </p:txBody>
      </p:sp>
      <p:sp>
        <p:nvSpPr>
          <p:cNvPr id="20" name="Shape 18"/>
          <p:cNvSpPr/>
          <p:nvPr/>
        </p:nvSpPr>
        <p:spPr>
          <a:xfrm>
            <a:off x="658368" y="2971800"/>
            <a:ext cx="2240280" cy="1508760"/>
          </a:xfrm>
          <a:prstGeom prst="roundRect">
            <a:avLst>
              <a:gd name="adj" fmla="val 4848"/>
            </a:avLst>
          </a:prstGeom>
          <a:solidFill>
            <a:srgbClr val="EDF7F3"/>
          </a:solidFill>
          <a:ln w="12700">
            <a:solidFill>
              <a:srgbClr val="CBE4D9"/>
            </a:solidFill>
            <a:prstDash val="solid"/>
          </a:ln>
        </p:spPr>
      </p:sp>
      <p:sp>
        <p:nvSpPr>
          <p:cNvPr id="21" name="Text 19"/>
          <p:cNvSpPr/>
          <p:nvPr/>
        </p:nvSpPr>
        <p:spPr>
          <a:xfrm>
            <a:off x="822960" y="3136392"/>
            <a:ext cx="1911096" cy="292608"/>
          </a:xfrm>
          <a:prstGeom prst="rect">
            <a:avLst/>
          </a:prstGeom>
          <a:noFill/>
          <a:ln/>
        </p:spPr>
        <p:txBody>
          <a:bodyPr wrap="square" lIns="0" tIns="0" rIns="0" bIns="0" rtlCol="0" anchor="ctr"/>
          <a:lstStyle/>
          <a:p>
            <a:pPr indent="0" marL="0">
              <a:buNone/>
            </a:pPr>
            <a:r>
              <a:rPr lang="en-US" sz="1600" b="1" dirty="0">
                <a:solidFill>
                  <a:srgbClr val="16324F"/>
                </a:solidFill>
              </a:rPr>
              <a:t>1. Imputar</a:t>
            </a:r>
            <a:endParaRPr lang="en-US" sz="1600" dirty="0"/>
          </a:p>
        </p:txBody>
      </p:sp>
      <p:sp>
        <p:nvSpPr>
          <p:cNvPr id="22" name="Text 20"/>
          <p:cNvSpPr/>
          <p:nvPr/>
        </p:nvSpPr>
        <p:spPr>
          <a:xfrm>
            <a:off x="822960" y="3502152"/>
            <a:ext cx="1911096" cy="886968"/>
          </a:xfrm>
          <a:prstGeom prst="rect">
            <a:avLst/>
          </a:prstGeom>
          <a:noFill/>
          <a:ln/>
        </p:spPr>
        <p:txBody>
          <a:bodyPr wrap="square" lIns="254" tIns="254" rIns="254" bIns="254" rtlCol="0" anchor="t">
            <a:normAutofit/>
          </a:bodyPr>
          <a:lstStyle/>
          <a:p>
            <a:pPr indent="0" marL="0">
              <a:buNone/>
            </a:pPr>
            <a:r>
              <a:rPr lang="en-US" sz="1080" dirty="0">
                <a:solidFill>
                  <a:srgbClr val="1F2A35"/>
                </a:solidFill>
              </a:rPr>
              <a:t>Numéricas → mediana del training fold</a:t>
            </a:r>
            <a:endParaRPr lang="en-US" sz="1080" dirty="0"/>
          </a:p>
          <a:p>
            <a:pPr indent="0" marL="0">
              <a:buNone/>
            </a:pPr>
            <a:r>
              <a:rPr lang="en-US" sz="1080" dirty="0">
                <a:solidFill>
                  <a:srgbClr val="1F2A35"/>
                </a:solidFill>
              </a:rPr>
              <a:t>Categóricas → categoría más frecuente</a:t>
            </a:r>
            <a:endParaRPr lang="en-US" sz="1080" dirty="0"/>
          </a:p>
        </p:txBody>
      </p:sp>
      <p:sp>
        <p:nvSpPr>
          <p:cNvPr id="23" name="Shape 21"/>
          <p:cNvSpPr/>
          <p:nvPr/>
        </p:nvSpPr>
        <p:spPr>
          <a:xfrm>
            <a:off x="2971800" y="3703320"/>
            <a:ext cx="457200" cy="0"/>
          </a:xfrm>
          <a:prstGeom prst="line">
            <a:avLst/>
          </a:prstGeom>
          <a:noFill/>
          <a:ln w="22860">
            <a:solidFill>
              <a:srgbClr val="2F6EA5"/>
            </a:solidFill>
            <a:prstDash val="solid"/>
            <a:headEnd type="none"/>
            <a:tailEnd type="triangle"/>
          </a:ln>
        </p:spPr>
      </p:sp>
      <p:sp>
        <p:nvSpPr>
          <p:cNvPr id="24" name="Shape 22"/>
          <p:cNvSpPr/>
          <p:nvPr/>
        </p:nvSpPr>
        <p:spPr>
          <a:xfrm>
            <a:off x="3502152" y="2971800"/>
            <a:ext cx="2240280" cy="1508760"/>
          </a:xfrm>
          <a:prstGeom prst="roundRect">
            <a:avLst>
              <a:gd name="adj" fmla="val 4848"/>
            </a:avLst>
          </a:prstGeom>
          <a:solidFill>
            <a:srgbClr val="EEF4F8"/>
          </a:solidFill>
          <a:ln w="12700">
            <a:solidFill>
              <a:srgbClr val="CEDDE9"/>
            </a:solidFill>
            <a:prstDash val="solid"/>
          </a:ln>
        </p:spPr>
      </p:sp>
      <p:sp>
        <p:nvSpPr>
          <p:cNvPr id="25" name="Text 23"/>
          <p:cNvSpPr/>
          <p:nvPr/>
        </p:nvSpPr>
        <p:spPr>
          <a:xfrm>
            <a:off x="3666744" y="3136392"/>
            <a:ext cx="1911096" cy="292608"/>
          </a:xfrm>
          <a:prstGeom prst="rect">
            <a:avLst/>
          </a:prstGeom>
          <a:noFill/>
          <a:ln/>
        </p:spPr>
        <p:txBody>
          <a:bodyPr wrap="square" lIns="0" tIns="0" rIns="0" bIns="0" rtlCol="0" anchor="ctr"/>
          <a:lstStyle/>
          <a:p>
            <a:pPr indent="0" marL="0">
              <a:buNone/>
            </a:pPr>
            <a:r>
              <a:rPr lang="en-US" sz="1600" b="1" dirty="0">
                <a:solidFill>
                  <a:srgbClr val="16324F"/>
                </a:solidFill>
              </a:rPr>
              <a:t>2. Estandarizar</a:t>
            </a:r>
            <a:endParaRPr lang="en-US" sz="1600" dirty="0"/>
          </a:p>
        </p:txBody>
      </p:sp>
      <p:sp>
        <p:nvSpPr>
          <p:cNvPr id="26" name="Text 24"/>
          <p:cNvSpPr/>
          <p:nvPr/>
        </p:nvSpPr>
        <p:spPr>
          <a:xfrm>
            <a:off x="3666744" y="3502152"/>
            <a:ext cx="1911096" cy="886968"/>
          </a:xfrm>
          <a:prstGeom prst="rect">
            <a:avLst/>
          </a:prstGeom>
          <a:noFill/>
          <a:ln/>
        </p:spPr>
        <p:txBody>
          <a:bodyPr wrap="square" lIns="254" tIns="254" rIns="254" bIns="254" rtlCol="0" anchor="t">
            <a:normAutofit/>
          </a:bodyPr>
          <a:lstStyle/>
          <a:p>
            <a:pPr indent="0" marL="0">
              <a:buNone/>
            </a:pPr>
            <a:r>
              <a:rPr lang="en-US" sz="1080" dirty="0">
                <a:solidFill>
                  <a:srgbClr val="1F2A35"/>
                </a:solidFill>
              </a:rPr>
              <a:t>z = (x − media_train) / sd_train</a:t>
            </a:r>
            <a:endParaRPr lang="en-US" sz="1080" dirty="0"/>
          </a:p>
          <a:p>
            <a:pPr indent="0" marL="0">
              <a:buNone/>
            </a:pPr>
            <a:endParaRPr lang="en-US" sz="1080" dirty="0"/>
          </a:p>
          <a:p>
            <a:pPr indent="0" marL="0">
              <a:buNone/>
            </a:pPr>
            <a:r>
              <a:rPr lang="en-US" sz="1080" dirty="0">
                <a:solidFill>
                  <a:srgbClr val="1F2A35"/>
                </a:solidFill>
              </a:rPr>
              <a:t>Evita que la escala domine el modelo.</a:t>
            </a:r>
            <a:endParaRPr lang="en-US" sz="1080" dirty="0"/>
          </a:p>
        </p:txBody>
      </p:sp>
      <p:sp>
        <p:nvSpPr>
          <p:cNvPr id="27" name="Shape 25"/>
          <p:cNvSpPr/>
          <p:nvPr/>
        </p:nvSpPr>
        <p:spPr>
          <a:xfrm>
            <a:off x="5815584" y="3703320"/>
            <a:ext cx="457200" cy="0"/>
          </a:xfrm>
          <a:prstGeom prst="line">
            <a:avLst/>
          </a:prstGeom>
          <a:noFill/>
          <a:ln w="22860">
            <a:solidFill>
              <a:srgbClr val="2F6EA5"/>
            </a:solidFill>
            <a:prstDash val="solid"/>
            <a:headEnd type="none"/>
            <a:tailEnd type="triangle"/>
          </a:ln>
        </p:spPr>
      </p:sp>
      <p:sp>
        <p:nvSpPr>
          <p:cNvPr id="28" name="Shape 26"/>
          <p:cNvSpPr/>
          <p:nvPr/>
        </p:nvSpPr>
        <p:spPr>
          <a:xfrm>
            <a:off x="6345936" y="2971800"/>
            <a:ext cx="2240280" cy="1508760"/>
          </a:xfrm>
          <a:prstGeom prst="roundRect">
            <a:avLst>
              <a:gd name="adj" fmla="val 4848"/>
            </a:avLst>
          </a:prstGeom>
          <a:solidFill>
            <a:srgbClr val="F7F5EE"/>
          </a:solidFill>
          <a:ln w="12700">
            <a:solidFill>
              <a:srgbClr val="E6DDC5"/>
            </a:solidFill>
            <a:prstDash val="solid"/>
          </a:ln>
        </p:spPr>
      </p:sp>
      <p:sp>
        <p:nvSpPr>
          <p:cNvPr id="29" name="Text 27"/>
          <p:cNvSpPr/>
          <p:nvPr/>
        </p:nvSpPr>
        <p:spPr>
          <a:xfrm>
            <a:off x="6510528" y="3136392"/>
            <a:ext cx="1911096" cy="292608"/>
          </a:xfrm>
          <a:prstGeom prst="rect">
            <a:avLst/>
          </a:prstGeom>
          <a:noFill/>
          <a:ln/>
        </p:spPr>
        <p:txBody>
          <a:bodyPr wrap="square" lIns="0" tIns="0" rIns="0" bIns="0" rtlCol="0" anchor="ctr"/>
          <a:lstStyle/>
          <a:p>
            <a:pPr indent="0" marL="0">
              <a:buNone/>
            </a:pPr>
            <a:r>
              <a:rPr lang="en-US" sz="1600" b="1" dirty="0">
                <a:solidFill>
                  <a:srgbClr val="16324F"/>
                </a:solidFill>
              </a:rPr>
              <a:t>3. Codificar</a:t>
            </a:r>
            <a:endParaRPr lang="en-US" sz="1600" dirty="0"/>
          </a:p>
        </p:txBody>
      </p:sp>
      <p:sp>
        <p:nvSpPr>
          <p:cNvPr id="30" name="Text 28"/>
          <p:cNvSpPr/>
          <p:nvPr/>
        </p:nvSpPr>
        <p:spPr>
          <a:xfrm>
            <a:off x="6510528" y="3502152"/>
            <a:ext cx="1911096" cy="886968"/>
          </a:xfrm>
          <a:prstGeom prst="rect">
            <a:avLst/>
          </a:prstGeom>
          <a:noFill/>
          <a:ln/>
        </p:spPr>
        <p:txBody>
          <a:bodyPr wrap="square" lIns="254" tIns="254" rIns="254" bIns="254" rtlCol="0" anchor="t">
            <a:normAutofit/>
          </a:bodyPr>
          <a:lstStyle/>
          <a:p>
            <a:pPr indent="0" marL="0">
              <a:buNone/>
            </a:pPr>
            <a:r>
              <a:rPr lang="en-US" sz="1080" dirty="0">
                <a:solidFill>
                  <a:srgbClr val="1F2A35"/>
                </a:solidFill>
              </a:rPr>
              <a:t>Sexo y patrón TC → one-hot encoding</a:t>
            </a:r>
            <a:endParaRPr lang="en-US" sz="1080" dirty="0"/>
          </a:p>
          <a:p>
            <a:pPr indent="0" marL="0">
              <a:buNone/>
            </a:pPr>
            <a:endParaRPr lang="en-US" sz="1080" dirty="0"/>
          </a:p>
          <a:p>
            <a:pPr indent="0" marL="0">
              <a:buNone/>
            </a:pPr>
            <a:r>
              <a:rPr lang="en-US" sz="1080" dirty="0">
                <a:solidFill>
                  <a:srgbClr val="1F2A35"/>
                </a:solidFill>
              </a:rPr>
              <a:t>Sin imponer un orden artificial.</a:t>
            </a:r>
            <a:endParaRPr lang="en-US" sz="1080" dirty="0"/>
          </a:p>
        </p:txBody>
      </p:sp>
      <p:sp>
        <p:nvSpPr>
          <p:cNvPr id="31" name="Shape 29"/>
          <p:cNvSpPr/>
          <p:nvPr/>
        </p:nvSpPr>
        <p:spPr>
          <a:xfrm>
            <a:off x="8659368" y="3703320"/>
            <a:ext cx="457200" cy="0"/>
          </a:xfrm>
          <a:prstGeom prst="line">
            <a:avLst/>
          </a:prstGeom>
          <a:noFill/>
          <a:ln w="22860">
            <a:solidFill>
              <a:srgbClr val="2F6EA5"/>
            </a:solidFill>
            <a:prstDash val="solid"/>
            <a:headEnd type="none"/>
            <a:tailEnd type="triangle"/>
          </a:ln>
        </p:spPr>
      </p:sp>
      <p:sp>
        <p:nvSpPr>
          <p:cNvPr id="32" name="Shape 30"/>
          <p:cNvSpPr/>
          <p:nvPr/>
        </p:nvSpPr>
        <p:spPr>
          <a:xfrm>
            <a:off x="9189720" y="2971800"/>
            <a:ext cx="2350008" cy="1508760"/>
          </a:xfrm>
          <a:prstGeom prst="roundRect">
            <a:avLst>
              <a:gd name="adj" fmla="val 4848"/>
            </a:avLst>
          </a:prstGeom>
          <a:solidFill>
            <a:srgbClr val="FAEEEE"/>
          </a:solidFill>
          <a:ln w="12700">
            <a:solidFill>
              <a:srgbClr val="E7C6C6"/>
            </a:solidFill>
            <a:prstDash val="solid"/>
          </a:ln>
        </p:spPr>
      </p:sp>
      <p:sp>
        <p:nvSpPr>
          <p:cNvPr id="33" name="Text 31"/>
          <p:cNvSpPr/>
          <p:nvPr/>
        </p:nvSpPr>
        <p:spPr>
          <a:xfrm>
            <a:off x="9354312" y="3136392"/>
            <a:ext cx="2020824" cy="292608"/>
          </a:xfrm>
          <a:prstGeom prst="rect">
            <a:avLst/>
          </a:prstGeom>
          <a:noFill/>
          <a:ln/>
        </p:spPr>
        <p:txBody>
          <a:bodyPr wrap="square" lIns="0" tIns="0" rIns="0" bIns="0" rtlCol="0" anchor="ctr"/>
          <a:lstStyle/>
          <a:p>
            <a:pPr indent="0" marL="0">
              <a:buNone/>
            </a:pPr>
            <a:r>
              <a:rPr lang="en-US" sz="1600" b="1" dirty="0">
                <a:solidFill>
                  <a:srgbClr val="16324F"/>
                </a:solidFill>
              </a:rPr>
              <a:t>4. Entrenar</a:t>
            </a:r>
            <a:endParaRPr lang="en-US" sz="1600" dirty="0"/>
          </a:p>
        </p:txBody>
      </p:sp>
      <p:sp>
        <p:nvSpPr>
          <p:cNvPr id="34" name="Text 32"/>
          <p:cNvSpPr/>
          <p:nvPr/>
        </p:nvSpPr>
        <p:spPr>
          <a:xfrm>
            <a:off x="9354312" y="3502152"/>
            <a:ext cx="2020824" cy="886968"/>
          </a:xfrm>
          <a:prstGeom prst="rect">
            <a:avLst/>
          </a:prstGeom>
          <a:noFill/>
          <a:ln/>
        </p:spPr>
        <p:txBody>
          <a:bodyPr wrap="square" lIns="254" tIns="254" rIns="254" bIns="254" rtlCol="0" anchor="t">
            <a:normAutofit/>
          </a:bodyPr>
          <a:lstStyle/>
          <a:p>
            <a:pPr indent="0" marL="0">
              <a:buNone/>
            </a:pPr>
            <a:r>
              <a:rPr lang="en-US" sz="1050" dirty="0">
                <a:solidFill>
                  <a:srgbClr val="1F2A35"/>
                </a:solidFill>
              </a:rPr>
              <a:t>El modelo solo ve el training fold.</a:t>
            </a:r>
            <a:endParaRPr lang="en-US" sz="1050" dirty="0"/>
          </a:p>
          <a:p>
            <a:pPr indent="0" marL="0">
              <a:buNone/>
            </a:pPr>
            <a:r>
              <a:rPr lang="en-US" sz="1050" dirty="0">
                <a:solidFill>
                  <a:srgbClr val="1F2A35"/>
                </a:solidFill>
              </a:rPr>
              <a:t>El fold de test permanece completamente separado.</a:t>
            </a:r>
            <a:endParaRPr lang="en-US" sz="1050" dirty="0"/>
          </a:p>
        </p:txBody>
      </p:sp>
      <p:sp>
        <p:nvSpPr>
          <p:cNvPr id="35" name="Shape 33"/>
          <p:cNvSpPr/>
          <p:nvPr/>
        </p:nvSpPr>
        <p:spPr>
          <a:xfrm>
            <a:off x="585216" y="5897880"/>
            <a:ext cx="11018520" cy="457200"/>
          </a:xfrm>
          <a:prstGeom prst="roundRect">
            <a:avLst>
              <a:gd name="adj" fmla="val 16000"/>
            </a:avLst>
          </a:prstGeom>
          <a:solidFill>
            <a:srgbClr val="EAF1F7"/>
          </a:solidFill>
          <a:ln w="12700">
            <a:solidFill>
              <a:srgbClr val="D5E1EB"/>
            </a:solidFill>
            <a:prstDash val="solid"/>
          </a:ln>
        </p:spPr>
      </p:sp>
      <p:sp>
        <p:nvSpPr>
          <p:cNvPr id="36" name="Text 34"/>
          <p:cNvSpPr/>
          <p:nvPr/>
        </p:nvSpPr>
        <p:spPr>
          <a:xfrm>
            <a:off x="749808" y="6007608"/>
            <a:ext cx="10689336" cy="210312"/>
          </a:xfrm>
          <a:prstGeom prst="rect">
            <a:avLst/>
          </a:prstGeom>
          <a:noFill/>
          <a:ln/>
        </p:spPr>
        <p:txBody>
          <a:bodyPr wrap="square" lIns="0" tIns="0" rIns="0" bIns="0" rtlCol="0" anchor="ctr"/>
          <a:lstStyle/>
          <a:p>
            <a:pPr indent="0" marL="0">
              <a:buNone/>
            </a:pPr>
            <a:r>
              <a:rPr lang="en-US" sz="1150" b="1" dirty="0">
                <a:solidFill>
                  <a:srgbClr val="16324F"/>
                </a:solidFill>
              </a:rPr>
              <a:t>Idea clave · la mediana, la media, la desviación y las categorías se recalculan dentro de cada fold; así evitamos data leakage.</a:t>
            </a:r>
            <a:endParaRPr lang="en-US" sz="1150" dirty="0"/>
          </a:p>
        </p:txBody>
      </p:sp>
      <p:sp>
        <p:nvSpPr>
          <p:cNvPr id="25" name="Slide Number Placeholder 0"/>
          <p:cNvSpPr>
            <a:spLocks noGrp="1"/>
          </p:cNvSpPr>
          <p:nvPr>
            <p:ph type="sldNum" sz="quarter" idx="4294967295"/>
          </p:nvPr>
        </p:nvSpPr>
        <p:spPr>
          <a:xfrm>
            <a:off x="11384280" y="6473952"/>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6A2"/>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47472"/>
            <a:ext cx="8046720" cy="438912"/>
          </a:xfrm>
          <a:prstGeom prst="rect">
            <a:avLst/>
          </a:prstGeom>
          <a:noFill/>
          <a:ln/>
        </p:spPr>
        <p:txBody>
          <a:bodyPr wrap="square" lIns="0" tIns="0" rIns="0" bIns="0" rtlCol="0" anchor="ctr"/>
          <a:lstStyle/>
          <a:p>
            <a:pPr indent="0" marL="0">
              <a:buNone/>
            </a:pPr>
            <a:r>
              <a:rPr lang="en-US" sz="2600" b="1" dirty="0">
                <a:solidFill>
                  <a:srgbClr val="16324F"/>
                </a:solidFill>
                <a:latin typeface="Aptos Display" pitchFamily="34" charset="0"/>
                <a:ea typeface="Aptos Display" pitchFamily="34" charset="-122"/>
                <a:cs typeface="Aptos Display" pitchFamily="34" charset="-120"/>
              </a:rPr>
              <a:t>4. Elegimos un modelo simple a propósito</a:t>
            </a:r>
            <a:endParaRPr lang="en-US" sz="2600" dirty="0"/>
          </a:p>
        </p:txBody>
      </p:sp>
      <p:sp>
        <p:nvSpPr>
          <p:cNvPr id="3" name="Text 1"/>
          <p:cNvSpPr/>
          <p:nvPr/>
        </p:nvSpPr>
        <p:spPr>
          <a:xfrm>
            <a:off x="585216" y="841248"/>
            <a:ext cx="10789920" cy="329184"/>
          </a:xfrm>
          <a:prstGeom prst="rect">
            <a:avLst/>
          </a:prstGeom>
          <a:noFill/>
          <a:ln/>
        </p:spPr>
        <p:txBody>
          <a:bodyPr wrap="square" lIns="0" tIns="0" rIns="0" bIns="0" rtlCol="0" anchor="ctr"/>
          <a:lstStyle/>
          <a:p>
            <a:pPr indent="0" marL="0">
              <a:buNone/>
            </a:pPr>
            <a:r>
              <a:rPr lang="en-US" sz="1250" dirty="0">
                <a:solidFill>
                  <a:srgbClr val="687582"/>
                </a:solidFill>
              </a:rPr>
              <a:t>Regresión logística regularizada: una probabilidad interpretable en lugar de una caja negra.</a:t>
            </a:r>
            <a:endParaRPr lang="en-US" sz="1250" dirty="0"/>
          </a:p>
        </p:txBody>
      </p:sp>
      <p:sp>
        <p:nvSpPr>
          <p:cNvPr id="4" name="Shape 2"/>
          <p:cNvSpPr/>
          <p:nvPr/>
        </p:nvSpPr>
        <p:spPr>
          <a:xfrm>
            <a:off x="640080" y="1417320"/>
            <a:ext cx="5715000" cy="3337560"/>
          </a:xfrm>
          <a:prstGeom prst="roundRect">
            <a:avLst>
              <a:gd name="adj" fmla="val 2192"/>
            </a:avLst>
          </a:prstGeom>
          <a:solidFill>
            <a:srgbClr val="FFFFFF"/>
          </a:solidFill>
          <a:ln w="12700">
            <a:solidFill>
              <a:srgbClr val="DCE3E8"/>
            </a:solidFill>
            <a:prstDash val="solid"/>
          </a:ln>
        </p:spPr>
      </p:sp>
      <p:sp>
        <p:nvSpPr>
          <p:cNvPr id="5" name="Text 3"/>
          <p:cNvSpPr/>
          <p:nvPr/>
        </p:nvSpPr>
        <p:spPr>
          <a:xfrm>
            <a:off x="896112" y="1700784"/>
            <a:ext cx="5029200" cy="310896"/>
          </a:xfrm>
          <a:prstGeom prst="rect">
            <a:avLst/>
          </a:prstGeom>
          <a:noFill/>
          <a:ln/>
        </p:spPr>
        <p:txBody>
          <a:bodyPr wrap="square" lIns="0" tIns="0" rIns="0" bIns="0" rtlCol="0" anchor="ctr"/>
          <a:lstStyle/>
          <a:p>
            <a:pPr indent="0" marL="0">
              <a:buNone/>
            </a:pPr>
            <a:r>
              <a:rPr lang="en-US" sz="1700" b="1" dirty="0">
                <a:solidFill>
                  <a:srgbClr val="16324F"/>
                </a:solidFill>
              </a:rPr>
              <a:t>Cada variable aporta una parte de la puntuación</a:t>
            </a:r>
            <a:endParaRPr lang="en-US" sz="1700" dirty="0"/>
          </a:p>
        </p:txBody>
      </p:sp>
      <p:sp>
        <p:nvSpPr>
          <p:cNvPr id="6" name="Text 4"/>
          <p:cNvSpPr/>
          <p:nvPr/>
        </p:nvSpPr>
        <p:spPr>
          <a:xfrm>
            <a:off x="914400" y="2304288"/>
            <a:ext cx="5120640" cy="438912"/>
          </a:xfrm>
          <a:prstGeom prst="rect">
            <a:avLst/>
          </a:prstGeom>
          <a:noFill/>
          <a:ln/>
        </p:spPr>
        <p:txBody>
          <a:bodyPr wrap="square" lIns="0" tIns="0" rIns="0" bIns="0" rtlCol="0" anchor="ctr"/>
          <a:lstStyle/>
          <a:p>
            <a:pPr algn="ctr" indent="0" marL="0">
              <a:buNone/>
            </a:pPr>
            <a:r>
              <a:rPr lang="en-US" sz="2300" b="1" dirty="0">
                <a:solidFill>
                  <a:srgbClr val="2F6EA5"/>
                </a:solidFill>
              </a:rPr>
              <a:t>S = β₀ + β₁x₁ + β₂x₂ + … + βₙxₙ</a:t>
            </a:r>
            <a:endParaRPr lang="en-US" sz="2300" dirty="0"/>
          </a:p>
        </p:txBody>
      </p:sp>
      <p:sp>
        <p:nvSpPr>
          <p:cNvPr id="7" name="Text 5"/>
          <p:cNvSpPr/>
          <p:nvPr/>
        </p:nvSpPr>
        <p:spPr>
          <a:xfrm>
            <a:off x="1024128" y="2944368"/>
            <a:ext cx="4800600" cy="640080"/>
          </a:xfrm>
          <a:prstGeom prst="rect">
            <a:avLst/>
          </a:prstGeom>
          <a:noFill/>
          <a:ln/>
        </p:spPr>
        <p:txBody>
          <a:bodyPr wrap="square" lIns="0" tIns="0" rIns="0" bIns="0" rtlCol="0" anchor="ctr">
            <a:normAutofit/>
          </a:bodyPr>
          <a:lstStyle/>
          <a:p>
            <a:pPr algn="ctr" indent="0" marL="0">
              <a:buNone/>
            </a:pPr>
            <a:r>
              <a:rPr lang="en-US" sz="1200" dirty="0">
                <a:solidFill>
                  <a:srgbClr val="1F2A35"/>
                </a:solidFill>
              </a:rPr>
              <a:t>Los coeficientes β no se asignan manualmente: el algoritmo los aprende a partir de los pacientes de entrenamiento.</a:t>
            </a:r>
            <a:endParaRPr lang="en-US" sz="1200" dirty="0"/>
          </a:p>
        </p:txBody>
      </p:sp>
      <p:sp>
        <p:nvSpPr>
          <p:cNvPr id="8" name="Text 6"/>
          <p:cNvSpPr/>
          <p:nvPr/>
        </p:nvSpPr>
        <p:spPr>
          <a:xfrm>
            <a:off x="1051560" y="3822192"/>
            <a:ext cx="4736592" cy="438912"/>
          </a:xfrm>
          <a:prstGeom prst="rect">
            <a:avLst/>
          </a:prstGeom>
          <a:noFill/>
          <a:ln/>
        </p:spPr>
        <p:txBody>
          <a:bodyPr wrap="square" lIns="0" tIns="0" rIns="0" bIns="0" rtlCol="0" anchor="ctr"/>
          <a:lstStyle/>
          <a:p>
            <a:pPr algn="ctr" indent="0" marL="0">
              <a:buNone/>
            </a:pPr>
            <a:r>
              <a:rPr lang="en-US" sz="2200" b="1" dirty="0">
                <a:solidFill>
                  <a:srgbClr val="16324F"/>
                </a:solidFill>
              </a:rPr>
              <a:t>P = 1 / (1 + e⁻ˢ)</a:t>
            </a:r>
            <a:endParaRPr lang="en-US" sz="2200" dirty="0"/>
          </a:p>
        </p:txBody>
      </p:sp>
      <p:sp>
        <p:nvSpPr>
          <p:cNvPr id="9" name="Shape 7"/>
          <p:cNvSpPr/>
          <p:nvPr/>
        </p:nvSpPr>
        <p:spPr>
          <a:xfrm>
            <a:off x="6693408" y="1417320"/>
            <a:ext cx="4828032" cy="1417320"/>
          </a:xfrm>
          <a:prstGeom prst="roundRect">
            <a:avLst>
              <a:gd name="adj" fmla="val 5161"/>
            </a:avLst>
          </a:prstGeom>
          <a:solidFill>
            <a:srgbClr val="F8FAFB"/>
          </a:solidFill>
          <a:ln w="12700">
            <a:solidFill>
              <a:srgbClr val="DCE3E8"/>
            </a:solidFill>
            <a:prstDash val="solid"/>
          </a:ln>
        </p:spPr>
      </p:sp>
      <p:sp>
        <p:nvSpPr>
          <p:cNvPr id="10" name="Text 8"/>
          <p:cNvSpPr/>
          <p:nvPr/>
        </p:nvSpPr>
        <p:spPr>
          <a:xfrm>
            <a:off x="6858000" y="1545336"/>
            <a:ext cx="4498848" cy="164592"/>
          </a:xfrm>
          <a:prstGeom prst="rect">
            <a:avLst/>
          </a:prstGeom>
          <a:noFill/>
          <a:ln/>
        </p:spPr>
        <p:txBody>
          <a:bodyPr wrap="square" lIns="0" tIns="0" rIns="0" bIns="0" rtlCol="0" anchor="ctr"/>
          <a:lstStyle/>
          <a:p>
            <a:pPr indent="0" marL="0">
              <a:buNone/>
            </a:pPr>
            <a:r>
              <a:rPr lang="en-US" sz="900" b="1" dirty="0">
                <a:solidFill>
                  <a:srgbClr val="687582"/>
                </a:solidFill>
              </a:rPr>
              <a:t>CONTROL DEL OVERFITTING</a:t>
            </a:r>
            <a:endParaRPr lang="en-US" sz="900" dirty="0"/>
          </a:p>
        </p:txBody>
      </p:sp>
      <p:sp>
        <p:nvSpPr>
          <p:cNvPr id="11" name="Text 9"/>
          <p:cNvSpPr/>
          <p:nvPr/>
        </p:nvSpPr>
        <p:spPr>
          <a:xfrm>
            <a:off x="6858000" y="1773936"/>
            <a:ext cx="4498848" cy="292608"/>
          </a:xfrm>
          <a:prstGeom prst="rect">
            <a:avLst/>
          </a:prstGeom>
          <a:noFill/>
          <a:ln/>
        </p:spPr>
        <p:txBody>
          <a:bodyPr wrap="square" lIns="0" tIns="0" rIns="0" bIns="0" rtlCol="0" anchor="ctr"/>
          <a:lstStyle/>
          <a:p>
            <a:pPr indent="0" marL="0">
              <a:buNone/>
            </a:pPr>
            <a:r>
              <a:rPr lang="en-US" sz="1600" b="1" dirty="0">
                <a:solidFill>
                  <a:srgbClr val="16324F"/>
                </a:solidFill>
              </a:rPr>
              <a:t>Regularización L2</a:t>
            </a:r>
            <a:endParaRPr lang="en-US" sz="1600" dirty="0"/>
          </a:p>
        </p:txBody>
      </p:sp>
      <p:sp>
        <p:nvSpPr>
          <p:cNvPr id="12" name="Text 10"/>
          <p:cNvSpPr/>
          <p:nvPr/>
        </p:nvSpPr>
        <p:spPr>
          <a:xfrm>
            <a:off x="6858000" y="2167128"/>
            <a:ext cx="4498848" cy="557784"/>
          </a:xfrm>
          <a:prstGeom prst="rect">
            <a:avLst/>
          </a:prstGeom>
          <a:noFill/>
          <a:ln/>
        </p:spPr>
        <p:txBody>
          <a:bodyPr wrap="square" lIns="254" tIns="254" rIns="254" bIns="254" rtlCol="0" anchor="t">
            <a:normAutofit/>
          </a:bodyPr>
          <a:lstStyle/>
          <a:p>
            <a:pPr indent="0" marL="0">
              <a:buNone/>
            </a:pPr>
            <a:r>
              <a:rPr lang="en-US" sz="1150" dirty="0">
                <a:solidFill>
                  <a:srgbClr val="1F2A35"/>
                </a:solidFill>
              </a:rPr>
              <a:t>Penaliza coeficientes excesivamente grandes y ayuda a reducir el sobreajuste.</a:t>
            </a:r>
            <a:endParaRPr lang="en-US" sz="1150" dirty="0"/>
          </a:p>
        </p:txBody>
      </p:sp>
      <p:sp>
        <p:nvSpPr>
          <p:cNvPr id="13" name="Shape 11"/>
          <p:cNvSpPr/>
          <p:nvPr/>
        </p:nvSpPr>
        <p:spPr>
          <a:xfrm>
            <a:off x="6693408" y="3090672"/>
            <a:ext cx="4828032" cy="1664208"/>
          </a:xfrm>
          <a:prstGeom prst="roundRect">
            <a:avLst>
              <a:gd name="adj" fmla="val 4396"/>
            </a:avLst>
          </a:prstGeom>
          <a:solidFill>
            <a:srgbClr val="FFFFFF"/>
          </a:solidFill>
          <a:ln w="12700">
            <a:solidFill>
              <a:srgbClr val="DCE3E8"/>
            </a:solidFill>
            <a:prstDash val="solid"/>
          </a:ln>
        </p:spPr>
      </p:sp>
      <p:sp>
        <p:nvSpPr>
          <p:cNvPr id="14" name="Text 12"/>
          <p:cNvSpPr/>
          <p:nvPr/>
        </p:nvSpPr>
        <p:spPr>
          <a:xfrm>
            <a:off x="6858000" y="3218688"/>
            <a:ext cx="4498848" cy="164592"/>
          </a:xfrm>
          <a:prstGeom prst="rect">
            <a:avLst/>
          </a:prstGeom>
          <a:noFill/>
          <a:ln/>
        </p:spPr>
        <p:txBody>
          <a:bodyPr wrap="square" lIns="0" tIns="0" rIns="0" bIns="0" rtlCol="0" anchor="ctr"/>
          <a:lstStyle/>
          <a:p>
            <a:pPr indent="0" marL="0">
              <a:buNone/>
            </a:pPr>
            <a:r>
              <a:rPr lang="en-US" sz="900" b="1" dirty="0">
                <a:solidFill>
                  <a:srgbClr val="687582"/>
                </a:solidFill>
              </a:rPr>
              <a:t>DECISIÓN DE DISEÑO</a:t>
            </a:r>
            <a:endParaRPr lang="en-US" sz="900" dirty="0"/>
          </a:p>
        </p:txBody>
      </p:sp>
      <p:sp>
        <p:nvSpPr>
          <p:cNvPr id="15" name="Text 13"/>
          <p:cNvSpPr/>
          <p:nvPr/>
        </p:nvSpPr>
        <p:spPr>
          <a:xfrm>
            <a:off x="6858000" y="3447288"/>
            <a:ext cx="4498848" cy="292608"/>
          </a:xfrm>
          <a:prstGeom prst="rect">
            <a:avLst/>
          </a:prstGeom>
          <a:noFill/>
          <a:ln/>
        </p:spPr>
        <p:txBody>
          <a:bodyPr wrap="square" lIns="0" tIns="0" rIns="0" bIns="0" rtlCol="0" anchor="ctr"/>
          <a:lstStyle/>
          <a:p>
            <a:pPr indent="0" marL="0">
              <a:buNone/>
            </a:pPr>
            <a:r>
              <a:rPr lang="en-US" sz="1600" b="1" dirty="0">
                <a:solidFill>
                  <a:srgbClr val="16324F"/>
                </a:solidFill>
              </a:rPr>
              <a:t>¿Por qué logística?</a:t>
            </a:r>
            <a:endParaRPr lang="en-US" sz="1600" dirty="0"/>
          </a:p>
        </p:txBody>
      </p:sp>
      <p:sp>
        <p:nvSpPr>
          <p:cNvPr id="16" name="Text 14"/>
          <p:cNvSpPr/>
          <p:nvPr/>
        </p:nvSpPr>
        <p:spPr>
          <a:xfrm>
            <a:off x="6858000" y="3840480"/>
            <a:ext cx="4498848" cy="804672"/>
          </a:xfrm>
          <a:prstGeom prst="rect">
            <a:avLst/>
          </a:prstGeom>
          <a:noFill/>
          <a:ln/>
        </p:spPr>
        <p:txBody>
          <a:bodyPr wrap="square" lIns="254" tIns="254" rIns="254" bIns="254" rtlCol="0" anchor="t">
            <a:normAutofit/>
          </a:bodyPr>
          <a:lstStyle/>
          <a:p>
            <a:pPr indent="0" marL="0">
              <a:buNone/>
            </a:pPr>
            <a:r>
              <a:rPr lang="en-US" sz="1120" dirty="0">
                <a:solidFill>
                  <a:srgbClr val="1F2A35"/>
                </a:solidFill>
              </a:rPr>
              <a:t>• devuelve probabilidades</a:t>
            </a:r>
            <a:endParaRPr lang="en-US" sz="1120" dirty="0"/>
          </a:p>
          <a:p>
            <a:pPr indent="0" marL="0">
              <a:buNone/>
            </a:pPr>
            <a:r>
              <a:rPr lang="en-US" sz="1120" dirty="0">
                <a:solidFill>
                  <a:srgbClr val="1F2A35"/>
                </a:solidFill>
              </a:rPr>
              <a:t>• es fácil de interpretar</a:t>
            </a:r>
            <a:endParaRPr lang="en-US" sz="1120" dirty="0"/>
          </a:p>
          <a:p>
            <a:pPr indent="0" marL="0">
              <a:buNone/>
            </a:pPr>
            <a:r>
              <a:rPr lang="en-US" sz="1120" dirty="0">
                <a:solidFill>
                  <a:srgbClr val="1F2A35"/>
                </a:solidFill>
              </a:rPr>
              <a:t>• funciona bien con una firma pequeña</a:t>
            </a:r>
            <a:endParaRPr lang="en-US" sz="1120" dirty="0"/>
          </a:p>
          <a:p>
            <a:pPr indent="0" marL="0">
              <a:buNone/>
            </a:pPr>
            <a:r>
              <a:rPr lang="en-US" sz="1120" dirty="0">
                <a:solidFill>
                  <a:srgbClr val="1F2A35"/>
                </a:solidFill>
              </a:rPr>
              <a:t>• permite explicar qué variables empujan el riesgo</a:t>
            </a:r>
            <a:endParaRPr lang="en-US" sz="1120" dirty="0"/>
          </a:p>
        </p:txBody>
      </p:sp>
      <p:sp>
        <p:nvSpPr>
          <p:cNvPr id="17" name="Shape 15"/>
          <p:cNvSpPr/>
          <p:nvPr/>
        </p:nvSpPr>
        <p:spPr>
          <a:xfrm>
            <a:off x="640080" y="5047488"/>
            <a:ext cx="10881360" cy="566928"/>
          </a:xfrm>
          <a:prstGeom prst="roundRect">
            <a:avLst>
              <a:gd name="adj" fmla="val 9677"/>
            </a:avLst>
          </a:prstGeom>
          <a:solidFill>
            <a:srgbClr val="EEF4F8"/>
          </a:solidFill>
          <a:ln w="12700">
            <a:solidFill>
              <a:srgbClr val="D2DFE9"/>
            </a:solidFill>
            <a:prstDash val="solid"/>
          </a:ln>
        </p:spPr>
      </p:sp>
      <p:sp>
        <p:nvSpPr>
          <p:cNvPr id="18" name="Text 16"/>
          <p:cNvSpPr/>
          <p:nvPr/>
        </p:nvSpPr>
        <p:spPr>
          <a:xfrm>
            <a:off x="868680" y="5221224"/>
            <a:ext cx="10378440" cy="219456"/>
          </a:xfrm>
          <a:prstGeom prst="rect">
            <a:avLst/>
          </a:prstGeom>
          <a:noFill/>
          <a:ln/>
        </p:spPr>
        <p:txBody>
          <a:bodyPr wrap="square" lIns="0" tIns="0" rIns="0" bIns="0" rtlCol="0" anchor="ctr"/>
          <a:lstStyle/>
          <a:p>
            <a:pPr indent="0" marL="0">
              <a:buNone/>
            </a:pPr>
            <a:r>
              <a:rPr lang="en-US" sz="1150" b="1" dirty="0">
                <a:solidFill>
                  <a:srgbClr val="16324F"/>
                </a:solidFill>
              </a:rPr>
              <a:t>También comparamos: clínica sola → clínica + 2 proteínas → clínica + 4 proteínas, usando exactamente los mismos folds.</a:t>
            </a:r>
            <a:endParaRPr lang="en-US" sz="1150" dirty="0"/>
          </a:p>
        </p:txBody>
      </p:sp>
      <p:sp>
        <p:nvSpPr>
          <p:cNvPr id="19" name="Shape 17"/>
          <p:cNvSpPr/>
          <p:nvPr/>
        </p:nvSpPr>
        <p:spPr>
          <a:xfrm>
            <a:off x="640080" y="5833872"/>
            <a:ext cx="10881360" cy="457200"/>
          </a:xfrm>
          <a:prstGeom prst="roundRect">
            <a:avLst>
              <a:gd name="adj" fmla="val 16000"/>
            </a:avLst>
          </a:prstGeom>
          <a:solidFill>
            <a:srgbClr val="EAF1F7"/>
          </a:solidFill>
          <a:ln w="12700">
            <a:solidFill>
              <a:srgbClr val="D5E1EB"/>
            </a:solidFill>
            <a:prstDash val="solid"/>
          </a:ln>
        </p:spPr>
      </p:sp>
      <p:sp>
        <p:nvSpPr>
          <p:cNvPr id="20" name="Text 18"/>
          <p:cNvSpPr/>
          <p:nvPr/>
        </p:nvSpPr>
        <p:spPr>
          <a:xfrm>
            <a:off x="804672" y="5943600"/>
            <a:ext cx="10552176" cy="210312"/>
          </a:xfrm>
          <a:prstGeom prst="rect">
            <a:avLst/>
          </a:prstGeom>
          <a:noFill/>
          <a:ln/>
        </p:spPr>
        <p:txBody>
          <a:bodyPr wrap="square" lIns="0" tIns="0" rIns="0" bIns="0" rtlCol="0" anchor="ctr"/>
          <a:lstStyle/>
          <a:p>
            <a:pPr indent="0" marL="0">
              <a:buNone/>
            </a:pPr>
            <a:r>
              <a:rPr lang="en-US" sz="1150" b="1" dirty="0">
                <a:solidFill>
                  <a:srgbClr val="16324F"/>
                </a:solidFill>
              </a:rPr>
              <a:t>Idea clave · la firma final mantiene cuatro proteínas porque equilibra rendimiento, estabilidad, biología e interpretabilidad.</a:t>
            </a:r>
            <a:endParaRPr lang="en-US" sz="1150" dirty="0"/>
          </a:p>
        </p:txBody>
      </p:sp>
      <p:sp>
        <p:nvSpPr>
          <p:cNvPr id="25" name="Slide Number Placeholder 0"/>
          <p:cNvSpPr>
            <a:spLocks noGrp="1"/>
          </p:cNvSpPr>
          <p:nvPr>
            <p:ph type="sldNum" sz="quarter" idx="4294967295"/>
          </p:nvPr>
        </p:nvSpPr>
        <p:spPr>
          <a:xfrm>
            <a:off x="11384280" y="6473952"/>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6A2"/>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47472"/>
            <a:ext cx="8046720" cy="438912"/>
          </a:xfrm>
          <a:prstGeom prst="rect">
            <a:avLst/>
          </a:prstGeom>
          <a:noFill/>
          <a:ln/>
        </p:spPr>
        <p:txBody>
          <a:bodyPr wrap="square" lIns="0" tIns="0" rIns="0" bIns="0" rtlCol="0" anchor="ctr"/>
          <a:lstStyle/>
          <a:p>
            <a:pPr indent="0" marL="0">
              <a:buNone/>
            </a:pPr>
            <a:r>
              <a:rPr lang="en-US" sz="2600" b="1" dirty="0">
                <a:solidFill>
                  <a:srgbClr val="16324F"/>
                </a:solidFill>
                <a:latin typeface="Aptos Display" pitchFamily="34" charset="0"/>
                <a:ea typeface="Aptos Display" pitchFamily="34" charset="-122"/>
                <a:cs typeface="Aptos Display" pitchFamily="34" charset="-120"/>
              </a:rPr>
              <a:t>5. Validamos de forma que cada paciente sea “nuevo”</a:t>
            </a:r>
            <a:endParaRPr lang="en-US" sz="2600" dirty="0"/>
          </a:p>
        </p:txBody>
      </p:sp>
      <p:sp>
        <p:nvSpPr>
          <p:cNvPr id="3" name="Text 1"/>
          <p:cNvSpPr/>
          <p:nvPr/>
        </p:nvSpPr>
        <p:spPr>
          <a:xfrm>
            <a:off x="585216" y="841248"/>
            <a:ext cx="10789920" cy="329184"/>
          </a:xfrm>
          <a:prstGeom prst="rect">
            <a:avLst/>
          </a:prstGeom>
          <a:noFill/>
          <a:ln/>
        </p:spPr>
        <p:txBody>
          <a:bodyPr wrap="square" lIns="0" tIns="0" rIns="0" bIns="0" rtlCol="0" anchor="ctr"/>
          <a:lstStyle/>
          <a:p>
            <a:pPr indent="0" marL="0">
              <a:buNone/>
            </a:pPr>
            <a:r>
              <a:rPr lang="en-US" sz="1250" dirty="0">
                <a:solidFill>
                  <a:srgbClr val="687582"/>
                </a:solidFill>
              </a:rPr>
              <a:t>Usamos validación cruzada estratificada de 5 folds y predicciones out-of-fold.</a:t>
            </a:r>
            <a:endParaRPr lang="en-US" sz="1250" dirty="0"/>
          </a:p>
        </p:txBody>
      </p:sp>
      <p:sp>
        <p:nvSpPr>
          <p:cNvPr id="4" name="Text 2"/>
          <p:cNvSpPr/>
          <p:nvPr/>
        </p:nvSpPr>
        <p:spPr>
          <a:xfrm>
            <a:off x="658368" y="1691640"/>
            <a:ext cx="914400" cy="182880"/>
          </a:xfrm>
          <a:prstGeom prst="rect">
            <a:avLst/>
          </a:prstGeom>
          <a:noFill/>
          <a:ln/>
        </p:spPr>
        <p:txBody>
          <a:bodyPr wrap="square" lIns="0" tIns="0" rIns="0" bIns="0" rtlCol="0" anchor="ctr"/>
          <a:lstStyle/>
          <a:p>
            <a:pPr indent="0" marL="0">
              <a:buNone/>
            </a:pPr>
            <a:r>
              <a:rPr lang="en-US" sz="950" dirty="0">
                <a:solidFill>
                  <a:srgbClr val="687582"/>
                </a:solidFill>
              </a:rPr>
              <a:t>Iteración 1</a:t>
            </a:r>
            <a:endParaRPr lang="en-US" sz="950" dirty="0"/>
          </a:p>
        </p:txBody>
      </p:sp>
      <p:sp>
        <p:nvSpPr>
          <p:cNvPr id="5" name="Shape 3"/>
          <p:cNvSpPr/>
          <p:nvPr/>
        </p:nvSpPr>
        <p:spPr>
          <a:xfrm>
            <a:off x="1783080" y="1508760"/>
            <a:ext cx="1627632" cy="658368"/>
          </a:xfrm>
          <a:prstGeom prst="roundRect">
            <a:avLst>
              <a:gd name="adj" fmla="val 4167"/>
            </a:avLst>
          </a:prstGeom>
          <a:solidFill>
            <a:srgbClr val="F8E5E5"/>
          </a:solidFill>
          <a:ln w="12700">
            <a:solidFill>
              <a:srgbClr val="DCA8A8"/>
            </a:solidFill>
            <a:prstDash val="solid"/>
          </a:ln>
        </p:spPr>
      </p:sp>
      <p:sp>
        <p:nvSpPr>
          <p:cNvPr id="6" name="Text 4"/>
          <p:cNvSpPr/>
          <p:nvPr/>
        </p:nvSpPr>
        <p:spPr>
          <a:xfrm>
            <a:off x="1783080" y="1709928"/>
            <a:ext cx="1627632" cy="182880"/>
          </a:xfrm>
          <a:prstGeom prst="rect">
            <a:avLst/>
          </a:prstGeom>
          <a:noFill/>
          <a:ln/>
        </p:spPr>
        <p:txBody>
          <a:bodyPr wrap="square" lIns="0" tIns="0" rIns="0" bIns="0" rtlCol="0" anchor="ctr"/>
          <a:lstStyle/>
          <a:p>
            <a:pPr algn="ctr" indent="0" marL="0">
              <a:buNone/>
            </a:pPr>
            <a:r>
              <a:rPr lang="en-US" sz="1030" b="1" dirty="0">
                <a:solidFill>
                  <a:srgbClr val="B95151"/>
                </a:solidFill>
              </a:rPr>
              <a:t>TEST</a:t>
            </a:r>
            <a:endParaRPr lang="en-US" sz="1030" dirty="0"/>
          </a:p>
        </p:txBody>
      </p:sp>
      <p:sp>
        <p:nvSpPr>
          <p:cNvPr id="7" name="Shape 5"/>
          <p:cNvSpPr/>
          <p:nvPr/>
        </p:nvSpPr>
        <p:spPr>
          <a:xfrm>
            <a:off x="3611880" y="1508760"/>
            <a:ext cx="1627632" cy="658368"/>
          </a:xfrm>
          <a:prstGeom prst="roundRect">
            <a:avLst>
              <a:gd name="adj" fmla="val 4167"/>
            </a:avLst>
          </a:prstGeom>
          <a:solidFill>
            <a:srgbClr val="E7EFF5"/>
          </a:solidFill>
          <a:ln w="12700">
            <a:solidFill>
              <a:srgbClr val="C7D5E0"/>
            </a:solidFill>
            <a:prstDash val="solid"/>
          </a:ln>
        </p:spPr>
      </p:sp>
      <p:sp>
        <p:nvSpPr>
          <p:cNvPr id="8" name="Text 6"/>
          <p:cNvSpPr/>
          <p:nvPr/>
        </p:nvSpPr>
        <p:spPr>
          <a:xfrm>
            <a:off x="3611880" y="1709928"/>
            <a:ext cx="1627632" cy="182880"/>
          </a:xfrm>
          <a:prstGeom prst="rect">
            <a:avLst/>
          </a:prstGeom>
          <a:noFill/>
          <a:ln/>
        </p:spPr>
        <p:txBody>
          <a:bodyPr wrap="square" lIns="0" tIns="0" rIns="0" bIns="0" rtlCol="0" anchor="ctr"/>
          <a:lstStyle/>
          <a:p>
            <a:pPr algn="ctr" indent="0" marL="0">
              <a:buNone/>
            </a:pPr>
            <a:r>
              <a:rPr lang="en-US" sz="1030" b="1" dirty="0">
                <a:solidFill>
                  <a:srgbClr val="16324F"/>
                </a:solidFill>
              </a:rPr>
              <a:t>TRAIN</a:t>
            </a:r>
            <a:endParaRPr lang="en-US" sz="1030" dirty="0"/>
          </a:p>
        </p:txBody>
      </p:sp>
      <p:sp>
        <p:nvSpPr>
          <p:cNvPr id="9" name="Shape 7"/>
          <p:cNvSpPr/>
          <p:nvPr/>
        </p:nvSpPr>
        <p:spPr>
          <a:xfrm>
            <a:off x="5440680" y="1508760"/>
            <a:ext cx="1627632" cy="658368"/>
          </a:xfrm>
          <a:prstGeom prst="roundRect">
            <a:avLst>
              <a:gd name="adj" fmla="val 4167"/>
            </a:avLst>
          </a:prstGeom>
          <a:solidFill>
            <a:srgbClr val="DCEAF5"/>
          </a:solidFill>
          <a:ln w="12700">
            <a:solidFill>
              <a:srgbClr val="C7D5E0"/>
            </a:solidFill>
            <a:prstDash val="solid"/>
          </a:ln>
        </p:spPr>
      </p:sp>
      <p:sp>
        <p:nvSpPr>
          <p:cNvPr id="10" name="Text 8"/>
          <p:cNvSpPr/>
          <p:nvPr/>
        </p:nvSpPr>
        <p:spPr>
          <a:xfrm>
            <a:off x="5440680" y="1709928"/>
            <a:ext cx="1627632" cy="182880"/>
          </a:xfrm>
          <a:prstGeom prst="rect">
            <a:avLst/>
          </a:prstGeom>
          <a:noFill/>
          <a:ln/>
        </p:spPr>
        <p:txBody>
          <a:bodyPr wrap="square" lIns="0" tIns="0" rIns="0" bIns="0" rtlCol="0" anchor="ctr"/>
          <a:lstStyle/>
          <a:p>
            <a:pPr algn="ctr" indent="0" marL="0">
              <a:buNone/>
            </a:pPr>
            <a:r>
              <a:rPr lang="en-US" sz="1030" b="1" dirty="0">
                <a:solidFill>
                  <a:srgbClr val="16324F"/>
                </a:solidFill>
              </a:rPr>
              <a:t>TRAIN</a:t>
            </a:r>
            <a:endParaRPr lang="en-US" sz="1030" dirty="0"/>
          </a:p>
        </p:txBody>
      </p:sp>
      <p:sp>
        <p:nvSpPr>
          <p:cNvPr id="11" name="Shape 9"/>
          <p:cNvSpPr/>
          <p:nvPr/>
        </p:nvSpPr>
        <p:spPr>
          <a:xfrm>
            <a:off x="7269480" y="1508760"/>
            <a:ext cx="1627632" cy="658368"/>
          </a:xfrm>
          <a:prstGeom prst="roundRect">
            <a:avLst>
              <a:gd name="adj" fmla="val 4167"/>
            </a:avLst>
          </a:prstGeom>
          <a:solidFill>
            <a:srgbClr val="E7EFF5"/>
          </a:solidFill>
          <a:ln w="12700">
            <a:solidFill>
              <a:srgbClr val="C7D5E0"/>
            </a:solidFill>
            <a:prstDash val="solid"/>
          </a:ln>
        </p:spPr>
      </p:sp>
      <p:sp>
        <p:nvSpPr>
          <p:cNvPr id="12" name="Text 10"/>
          <p:cNvSpPr/>
          <p:nvPr/>
        </p:nvSpPr>
        <p:spPr>
          <a:xfrm>
            <a:off x="7269480" y="1709928"/>
            <a:ext cx="1627632" cy="182880"/>
          </a:xfrm>
          <a:prstGeom prst="rect">
            <a:avLst/>
          </a:prstGeom>
          <a:noFill/>
          <a:ln/>
        </p:spPr>
        <p:txBody>
          <a:bodyPr wrap="square" lIns="0" tIns="0" rIns="0" bIns="0" rtlCol="0" anchor="ctr"/>
          <a:lstStyle/>
          <a:p>
            <a:pPr algn="ctr" indent="0" marL="0">
              <a:buNone/>
            </a:pPr>
            <a:r>
              <a:rPr lang="en-US" sz="1030" b="1" dirty="0">
                <a:solidFill>
                  <a:srgbClr val="16324F"/>
                </a:solidFill>
              </a:rPr>
              <a:t>TRAIN</a:t>
            </a:r>
            <a:endParaRPr lang="en-US" sz="1030" dirty="0"/>
          </a:p>
        </p:txBody>
      </p:sp>
      <p:sp>
        <p:nvSpPr>
          <p:cNvPr id="13" name="Shape 11"/>
          <p:cNvSpPr/>
          <p:nvPr/>
        </p:nvSpPr>
        <p:spPr>
          <a:xfrm>
            <a:off x="9098280" y="1508760"/>
            <a:ext cx="1627632" cy="658368"/>
          </a:xfrm>
          <a:prstGeom prst="roundRect">
            <a:avLst>
              <a:gd name="adj" fmla="val 4167"/>
            </a:avLst>
          </a:prstGeom>
          <a:solidFill>
            <a:srgbClr val="DCEAF5"/>
          </a:solidFill>
          <a:ln w="12700">
            <a:solidFill>
              <a:srgbClr val="C7D5E0"/>
            </a:solidFill>
            <a:prstDash val="solid"/>
          </a:ln>
        </p:spPr>
      </p:sp>
      <p:sp>
        <p:nvSpPr>
          <p:cNvPr id="14" name="Text 12"/>
          <p:cNvSpPr/>
          <p:nvPr/>
        </p:nvSpPr>
        <p:spPr>
          <a:xfrm>
            <a:off x="9098280" y="1709928"/>
            <a:ext cx="1627632" cy="182880"/>
          </a:xfrm>
          <a:prstGeom prst="rect">
            <a:avLst/>
          </a:prstGeom>
          <a:noFill/>
          <a:ln/>
        </p:spPr>
        <p:txBody>
          <a:bodyPr wrap="square" lIns="0" tIns="0" rIns="0" bIns="0" rtlCol="0" anchor="ctr"/>
          <a:lstStyle/>
          <a:p>
            <a:pPr algn="ctr" indent="0" marL="0">
              <a:buNone/>
            </a:pPr>
            <a:r>
              <a:rPr lang="en-US" sz="1030" b="1" dirty="0">
                <a:solidFill>
                  <a:srgbClr val="16324F"/>
                </a:solidFill>
              </a:rPr>
              <a:t>TRAIN</a:t>
            </a:r>
            <a:endParaRPr lang="en-US" sz="1030" dirty="0"/>
          </a:p>
        </p:txBody>
      </p:sp>
      <p:sp>
        <p:nvSpPr>
          <p:cNvPr id="15" name="Text 13"/>
          <p:cNvSpPr/>
          <p:nvPr/>
        </p:nvSpPr>
        <p:spPr>
          <a:xfrm>
            <a:off x="658368" y="2441448"/>
            <a:ext cx="914400" cy="182880"/>
          </a:xfrm>
          <a:prstGeom prst="rect">
            <a:avLst/>
          </a:prstGeom>
          <a:noFill/>
          <a:ln/>
        </p:spPr>
        <p:txBody>
          <a:bodyPr wrap="square" lIns="0" tIns="0" rIns="0" bIns="0" rtlCol="0" anchor="ctr"/>
          <a:lstStyle/>
          <a:p>
            <a:pPr indent="0" marL="0">
              <a:buNone/>
            </a:pPr>
            <a:r>
              <a:rPr lang="en-US" sz="950" dirty="0">
                <a:solidFill>
                  <a:srgbClr val="687582"/>
                </a:solidFill>
              </a:rPr>
              <a:t>Iteración 2</a:t>
            </a:r>
            <a:endParaRPr lang="en-US" sz="950" dirty="0"/>
          </a:p>
        </p:txBody>
      </p:sp>
      <p:sp>
        <p:nvSpPr>
          <p:cNvPr id="16" name="Shape 14"/>
          <p:cNvSpPr/>
          <p:nvPr/>
        </p:nvSpPr>
        <p:spPr>
          <a:xfrm>
            <a:off x="1783080" y="2258568"/>
            <a:ext cx="1627632" cy="658368"/>
          </a:xfrm>
          <a:prstGeom prst="roundRect">
            <a:avLst>
              <a:gd name="adj" fmla="val 4167"/>
            </a:avLst>
          </a:prstGeom>
          <a:solidFill>
            <a:srgbClr val="DCEAF5"/>
          </a:solidFill>
          <a:ln w="12700">
            <a:solidFill>
              <a:srgbClr val="C7D5E0"/>
            </a:solidFill>
            <a:prstDash val="solid"/>
          </a:ln>
        </p:spPr>
      </p:sp>
      <p:sp>
        <p:nvSpPr>
          <p:cNvPr id="17" name="Text 15"/>
          <p:cNvSpPr/>
          <p:nvPr/>
        </p:nvSpPr>
        <p:spPr>
          <a:xfrm>
            <a:off x="1783080" y="2459736"/>
            <a:ext cx="1627632" cy="182880"/>
          </a:xfrm>
          <a:prstGeom prst="rect">
            <a:avLst/>
          </a:prstGeom>
          <a:noFill/>
          <a:ln/>
        </p:spPr>
        <p:txBody>
          <a:bodyPr wrap="square" lIns="0" tIns="0" rIns="0" bIns="0" rtlCol="0" anchor="ctr"/>
          <a:lstStyle/>
          <a:p>
            <a:pPr algn="ctr" indent="0" marL="0">
              <a:buNone/>
            </a:pPr>
            <a:r>
              <a:rPr lang="en-US" sz="1030" b="1" dirty="0">
                <a:solidFill>
                  <a:srgbClr val="16324F"/>
                </a:solidFill>
              </a:rPr>
              <a:t>TRAIN</a:t>
            </a:r>
            <a:endParaRPr lang="en-US" sz="1030" dirty="0"/>
          </a:p>
        </p:txBody>
      </p:sp>
      <p:sp>
        <p:nvSpPr>
          <p:cNvPr id="18" name="Shape 16"/>
          <p:cNvSpPr/>
          <p:nvPr/>
        </p:nvSpPr>
        <p:spPr>
          <a:xfrm>
            <a:off x="3611880" y="2258568"/>
            <a:ext cx="1627632" cy="658368"/>
          </a:xfrm>
          <a:prstGeom prst="roundRect">
            <a:avLst>
              <a:gd name="adj" fmla="val 4167"/>
            </a:avLst>
          </a:prstGeom>
          <a:solidFill>
            <a:srgbClr val="F8E5E5"/>
          </a:solidFill>
          <a:ln w="12700">
            <a:solidFill>
              <a:srgbClr val="DCA8A8"/>
            </a:solidFill>
            <a:prstDash val="solid"/>
          </a:ln>
        </p:spPr>
      </p:sp>
      <p:sp>
        <p:nvSpPr>
          <p:cNvPr id="19" name="Text 17"/>
          <p:cNvSpPr/>
          <p:nvPr/>
        </p:nvSpPr>
        <p:spPr>
          <a:xfrm>
            <a:off x="3611880" y="2459736"/>
            <a:ext cx="1627632" cy="182880"/>
          </a:xfrm>
          <a:prstGeom prst="rect">
            <a:avLst/>
          </a:prstGeom>
          <a:noFill/>
          <a:ln/>
        </p:spPr>
        <p:txBody>
          <a:bodyPr wrap="square" lIns="0" tIns="0" rIns="0" bIns="0" rtlCol="0" anchor="ctr"/>
          <a:lstStyle/>
          <a:p>
            <a:pPr algn="ctr" indent="0" marL="0">
              <a:buNone/>
            </a:pPr>
            <a:r>
              <a:rPr lang="en-US" sz="1030" b="1" dirty="0">
                <a:solidFill>
                  <a:srgbClr val="B95151"/>
                </a:solidFill>
              </a:rPr>
              <a:t>TEST</a:t>
            </a:r>
            <a:endParaRPr lang="en-US" sz="1030" dirty="0"/>
          </a:p>
        </p:txBody>
      </p:sp>
      <p:sp>
        <p:nvSpPr>
          <p:cNvPr id="20" name="Shape 18"/>
          <p:cNvSpPr/>
          <p:nvPr/>
        </p:nvSpPr>
        <p:spPr>
          <a:xfrm>
            <a:off x="5440680" y="2258568"/>
            <a:ext cx="1627632" cy="658368"/>
          </a:xfrm>
          <a:prstGeom prst="roundRect">
            <a:avLst>
              <a:gd name="adj" fmla="val 4167"/>
            </a:avLst>
          </a:prstGeom>
          <a:solidFill>
            <a:srgbClr val="DCEAF5"/>
          </a:solidFill>
          <a:ln w="12700">
            <a:solidFill>
              <a:srgbClr val="C7D5E0"/>
            </a:solidFill>
            <a:prstDash val="solid"/>
          </a:ln>
        </p:spPr>
      </p:sp>
      <p:sp>
        <p:nvSpPr>
          <p:cNvPr id="21" name="Text 19"/>
          <p:cNvSpPr/>
          <p:nvPr/>
        </p:nvSpPr>
        <p:spPr>
          <a:xfrm>
            <a:off x="5440680" y="2459736"/>
            <a:ext cx="1627632" cy="182880"/>
          </a:xfrm>
          <a:prstGeom prst="rect">
            <a:avLst/>
          </a:prstGeom>
          <a:noFill/>
          <a:ln/>
        </p:spPr>
        <p:txBody>
          <a:bodyPr wrap="square" lIns="0" tIns="0" rIns="0" bIns="0" rtlCol="0" anchor="ctr"/>
          <a:lstStyle/>
          <a:p>
            <a:pPr algn="ctr" indent="0" marL="0">
              <a:buNone/>
            </a:pPr>
            <a:r>
              <a:rPr lang="en-US" sz="1030" b="1" dirty="0">
                <a:solidFill>
                  <a:srgbClr val="16324F"/>
                </a:solidFill>
              </a:rPr>
              <a:t>TRAIN</a:t>
            </a:r>
            <a:endParaRPr lang="en-US" sz="1030" dirty="0"/>
          </a:p>
        </p:txBody>
      </p:sp>
      <p:sp>
        <p:nvSpPr>
          <p:cNvPr id="22" name="Shape 20"/>
          <p:cNvSpPr/>
          <p:nvPr/>
        </p:nvSpPr>
        <p:spPr>
          <a:xfrm>
            <a:off x="7269480" y="2258568"/>
            <a:ext cx="1627632" cy="658368"/>
          </a:xfrm>
          <a:prstGeom prst="roundRect">
            <a:avLst>
              <a:gd name="adj" fmla="val 4167"/>
            </a:avLst>
          </a:prstGeom>
          <a:solidFill>
            <a:srgbClr val="E7EFF5"/>
          </a:solidFill>
          <a:ln w="12700">
            <a:solidFill>
              <a:srgbClr val="C7D5E0"/>
            </a:solidFill>
            <a:prstDash val="solid"/>
          </a:ln>
        </p:spPr>
      </p:sp>
      <p:sp>
        <p:nvSpPr>
          <p:cNvPr id="23" name="Text 21"/>
          <p:cNvSpPr/>
          <p:nvPr/>
        </p:nvSpPr>
        <p:spPr>
          <a:xfrm>
            <a:off x="7269480" y="2459736"/>
            <a:ext cx="1627632" cy="182880"/>
          </a:xfrm>
          <a:prstGeom prst="rect">
            <a:avLst/>
          </a:prstGeom>
          <a:noFill/>
          <a:ln/>
        </p:spPr>
        <p:txBody>
          <a:bodyPr wrap="square" lIns="0" tIns="0" rIns="0" bIns="0" rtlCol="0" anchor="ctr"/>
          <a:lstStyle/>
          <a:p>
            <a:pPr algn="ctr" indent="0" marL="0">
              <a:buNone/>
            </a:pPr>
            <a:r>
              <a:rPr lang="en-US" sz="1030" b="1" dirty="0">
                <a:solidFill>
                  <a:srgbClr val="16324F"/>
                </a:solidFill>
              </a:rPr>
              <a:t>TRAIN</a:t>
            </a:r>
            <a:endParaRPr lang="en-US" sz="1030" dirty="0"/>
          </a:p>
        </p:txBody>
      </p:sp>
      <p:sp>
        <p:nvSpPr>
          <p:cNvPr id="24" name="Shape 22"/>
          <p:cNvSpPr/>
          <p:nvPr/>
        </p:nvSpPr>
        <p:spPr>
          <a:xfrm>
            <a:off x="9098280" y="2258568"/>
            <a:ext cx="1627632" cy="658368"/>
          </a:xfrm>
          <a:prstGeom prst="roundRect">
            <a:avLst>
              <a:gd name="adj" fmla="val 4167"/>
            </a:avLst>
          </a:prstGeom>
          <a:solidFill>
            <a:srgbClr val="DCEAF5"/>
          </a:solidFill>
          <a:ln w="12700">
            <a:solidFill>
              <a:srgbClr val="C7D5E0"/>
            </a:solidFill>
            <a:prstDash val="solid"/>
          </a:ln>
        </p:spPr>
      </p:sp>
      <p:sp>
        <p:nvSpPr>
          <p:cNvPr id="25" name="Text 23"/>
          <p:cNvSpPr/>
          <p:nvPr/>
        </p:nvSpPr>
        <p:spPr>
          <a:xfrm>
            <a:off x="9098280" y="2459736"/>
            <a:ext cx="1627632" cy="182880"/>
          </a:xfrm>
          <a:prstGeom prst="rect">
            <a:avLst/>
          </a:prstGeom>
          <a:noFill/>
          <a:ln/>
        </p:spPr>
        <p:txBody>
          <a:bodyPr wrap="square" lIns="0" tIns="0" rIns="0" bIns="0" rtlCol="0" anchor="ctr"/>
          <a:lstStyle/>
          <a:p>
            <a:pPr algn="ctr" indent="0" marL="0">
              <a:buNone/>
            </a:pPr>
            <a:r>
              <a:rPr lang="en-US" sz="1030" b="1" dirty="0">
                <a:solidFill>
                  <a:srgbClr val="16324F"/>
                </a:solidFill>
              </a:rPr>
              <a:t>TRAIN</a:t>
            </a:r>
            <a:endParaRPr lang="en-US" sz="1030" dirty="0"/>
          </a:p>
        </p:txBody>
      </p:sp>
      <p:sp>
        <p:nvSpPr>
          <p:cNvPr id="26" name="Text 24"/>
          <p:cNvSpPr/>
          <p:nvPr/>
        </p:nvSpPr>
        <p:spPr>
          <a:xfrm>
            <a:off x="658368" y="3191256"/>
            <a:ext cx="914400" cy="182880"/>
          </a:xfrm>
          <a:prstGeom prst="rect">
            <a:avLst/>
          </a:prstGeom>
          <a:noFill/>
          <a:ln/>
        </p:spPr>
        <p:txBody>
          <a:bodyPr wrap="square" lIns="0" tIns="0" rIns="0" bIns="0" rtlCol="0" anchor="ctr"/>
          <a:lstStyle/>
          <a:p>
            <a:pPr indent="0" marL="0">
              <a:buNone/>
            </a:pPr>
            <a:r>
              <a:rPr lang="en-US" sz="950" dirty="0">
                <a:solidFill>
                  <a:srgbClr val="687582"/>
                </a:solidFill>
              </a:rPr>
              <a:t>Iteración 3</a:t>
            </a:r>
            <a:endParaRPr lang="en-US" sz="950" dirty="0"/>
          </a:p>
        </p:txBody>
      </p:sp>
      <p:sp>
        <p:nvSpPr>
          <p:cNvPr id="27" name="Shape 25"/>
          <p:cNvSpPr/>
          <p:nvPr/>
        </p:nvSpPr>
        <p:spPr>
          <a:xfrm>
            <a:off x="1783080" y="3008376"/>
            <a:ext cx="1627632" cy="658368"/>
          </a:xfrm>
          <a:prstGeom prst="roundRect">
            <a:avLst>
              <a:gd name="adj" fmla="val 4167"/>
            </a:avLst>
          </a:prstGeom>
          <a:solidFill>
            <a:srgbClr val="DCEAF5"/>
          </a:solidFill>
          <a:ln w="12700">
            <a:solidFill>
              <a:srgbClr val="C7D5E0"/>
            </a:solidFill>
            <a:prstDash val="solid"/>
          </a:ln>
        </p:spPr>
      </p:sp>
      <p:sp>
        <p:nvSpPr>
          <p:cNvPr id="28" name="Text 26"/>
          <p:cNvSpPr/>
          <p:nvPr/>
        </p:nvSpPr>
        <p:spPr>
          <a:xfrm>
            <a:off x="1783080" y="3209544"/>
            <a:ext cx="1627632" cy="182880"/>
          </a:xfrm>
          <a:prstGeom prst="rect">
            <a:avLst/>
          </a:prstGeom>
          <a:noFill/>
          <a:ln/>
        </p:spPr>
        <p:txBody>
          <a:bodyPr wrap="square" lIns="0" tIns="0" rIns="0" bIns="0" rtlCol="0" anchor="ctr"/>
          <a:lstStyle/>
          <a:p>
            <a:pPr algn="ctr" indent="0" marL="0">
              <a:buNone/>
            </a:pPr>
            <a:r>
              <a:rPr lang="en-US" sz="1030" b="1" dirty="0">
                <a:solidFill>
                  <a:srgbClr val="16324F"/>
                </a:solidFill>
              </a:rPr>
              <a:t>TRAIN</a:t>
            </a:r>
            <a:endParaRPr lang="en-US" sz="1030" dirty="0"/>
          </a:p>
        </p:txBody>
      </p:sp>
      <p:sp>
        <p:nvSpPr>
          <p:cNvPr id="29" name="Shape 27"/>
          <p:cNvSpPr/>
          <p:nvPr/>
        </p:nvSpPr>
        <p:spPr>
          <a:xfrm>
            <a:off x="3611880" y="3008376"/>
            <a:ext cx="1627632" cy="658368"/>
          </a:xfrm>
          <a:prstGeom prst="roundRect">
            <a:avLst>
              <a:gd name="adj" fmla="val 4167"/>
            </a:avLst>
          </a:prstGeom>
          <a:solidFill>
            <a:srgbClr val="E7EFF5"/>
          </a:solidFill>
          <a:ln w="12700">
            <a:solidFill>
              <a:srgbClr val="C7D5E0"/>
            </a:solidFill>
            <a:prstDash val="solid"/>
          </a:ln>
        </p:spPr>
      </p:sp>
      <p:sp>
        <p:nvSpPr>
          <p:cNvPr id="30" name="Text 28"/>
          <p:cNvSpPr/>
          <p:nvPr/>
        </p:nvSpPr>
        <p:spPr>
          <a:xfrm>
            <a:off x="3611880" y="3209544"/>
            <a:ext cx="1627632" cy="182880"/>
          </a:xfrm>
          <a:prstGeom prst="rect">
            <a:avLst/>
          </a:prstGeom>
          <a:noFill/>
          <a:ln/>
        </p:spPr>
        <p:txBody>
          <a:bodyPr wrap="square" lIns="0" tIns="0" rIns="0" bIns="0" rtlCol="0" anchor="ctr"/>
          <a:lstStyle/>
          <a:p>
            <a:pPr algn="ctr" indent="0" marL="0">
              <a:buNone/>
            </a:pPr>
            <a:r>
              <a:rPr lang="en-US" sz="1030" b="1" dirty="0">
                <a:solidFill>
                  <a:srgbClr val="16324F"/>
                </a:solidFill>
              </a:rPr>
              <a:t>TRAIN</a:t>
            </a:r>
            <a:endParaRPr lang="en-US" sz="1030" dirty="0"/>
          </a:p>
        </p:txBody>
      </p:sp>
      <p:sp>
        <p:nvSpPr>
          <p:cNvPr id="31" name="Shape 29"/>
          <p:cNvSpPr/>
          <p:nvPr/>
        </p:nvSpPr>
        <p:spPr>
          <a:xfrm>
            <a:off x="5440680" y="3008376"/>
            <a:ext cx="1627632" cy="658368"/>
          </a:xfrm>
          <a:prstGeom prst="roundRect">
            <a:avLst>
              <a:gd name="adj" fmla="val 4167"/>
            </a:avLst>
          </a:prstGeom>
          <a:solidFill>
            <a:srgbClr val="F8E5E5"/>
          </a:solidFill>
          <a:ln w="12700">
            <a:solidFill>
              <a:srgbClr val="DCA8A8"/>
            </a:solidFill>
            <a:prstDash val="solid"/>
          </a:ln>
        </p:spPr>
      </p:sp>
      <p:sp>
        <p:nvSpPr>
          <p:cNvPr id="32" name="Text 30"/>
          <p:cNvSpPr/>
          <p:nvPr/>
        </p:nvSpPr>
        <p:spPr>
          <a:xfrm>
            <a:off x="5440680" y="3209544"/>
            <a:ext cx="1627632" cy="182880"/>
          </a:xfrm>
          <a:prstGeom prst="rect">
            <a:avLst/>
          </a:prstGeom>
          <a:noFill/>
          <a:ln/>
        </p:spPr>
        <p:txBody>
          <a:bodyPr wrap="square" lIns="0" tIns="0" rIns="0" bIns="0" rtlCol="0" anchor="ctr"/>
          <a:lstStyle/>
          <a:p>
            <a:pPr algn="ctr" indent="0" marL="0">
              <a:buNone/>
            </a:pPr>
            <a:r>
              <a:rPr lang="en-US" sz="1030" b="1" dirty="0">
                <a:solidFill>
                  <a:srgbClr val="B95151"/>
                </a:solidFill>
              </a:rPr>
              <a:t>TEST</a:t>
            </a:r>
            <a:endParaRPr lang="en-US" sz="1030" dirty="0"/>
          </a:p>
        </p:txBody>
      </p:sp>
      <p:sp>
        <p:nvSpPr>
          <p:cNvPr id="33" name="Shape 31"/>
          <p:cNvSpPr/>
          <p:nvPr/>
        </p:nvSpPr>
        <p:spPr>
          <a:xfrm>
            <a:off x="7269480" y="3008376"/>
            <a:ext cx="1627632" cy="658368"/>
          </a:xfrm>
          <a:prstGeom prst="roundRect">
            <a:avLst>
              <a:gd name="adj" fmla="val 4167"/>
            </a:avLst>
          </a:prstGeom>
          <a:solidFill>
            <a:srgbClr val="E7EFF5"/>
          </a:solidFill>
          <a:ln w="12700">
            <a:solidFill>
              <a:srgbClr val="C7D5E0"/>
            </a:solidFill>
            <a:prstDash val="solid"/>
          </a:ln>
        </p:spPr>
      </p:sp>
      <p:sp>
        <p:nvSpPr>
          <p:cNvPr id="34" name="Text 32"/>
          <p:cNvSpPr/>
          <p:nvPr/>
        </p:nvSpPr>
        <p:spPr>
          <a:xfrm>
            <a:off x="7269480" y="3209544"/>
            <a:ext cx="1627632" cy="182880"/>
          </a:xfrm>
          <a:prstGeom prst="rect">
            <a:avLst/>
          </a:prstGeom>
          <a:noFill/>
          <a:ln/>
        </p:spPr>
        <p:txBody>
          <a:bodyPr wrap="square" lIns="0" tIns="0" rIns="0" bIns="0" rtlCol="0" anchor="ctr"/>
          <a:lstStyle/>
          <a:p>
            <a:pPr algn="ctr" indent="0" marL="0">
              <a:buNone/>
            </a:pPr>
            <a:r>
              <a:rPr lang="en-US" sz="1030" b="1" dirty="0">
                <a:solidFill>
                  <a:srgbClr val="16324F"/>
                </a:solidFill>
              </a:rPr>
              <a:t>TRAIN</a:t>
            </a:r>
            <a:endParaRPr lang="en-US" sz="1030" dirty="0"/>
          </a:p>
        </p:txBody>
      </p:sp>
      <p:sp>
        <p:nvSpPr>
          <p:cNvPr id="35" name="Shape 33"/>
          <p:cNvSpPr/>
          <p:nvPr/>
        </p:nvSpPr>
        <p:spPr>
          <a:xfrm>
            <a:off x="9098280" y="3008376"/>
            <a:ext cx="1627632" cy="658368"/>
          </a:xfrm>
          <a:prstGeom prst="roundRect">
            <a:avLst>
              <a:gd name="adj" fmla="val 4167"/>
            </a:avLst>
          </a:prstGeom>
          <a:solidFill>
            <a:srgbClr val="DCEAF5"/>
          </a:solidFill>
          <a:ln w="12700">
            <a:solidFill>
              <a:srgbClr val="C7D5E0"/>
            </a:solidFill>
            <a:prstDash val="solid"/>
          </a:ln>
        </p:spPr>
      </p:sp>
      <p:sp>
        <p:nvSpPr>
          <p:cNvPr id="36" name="Text 34"/>
          <p:cNvSpPr/>
          <p:nvPr/>
        </p:nvSpPr>
        <p:spPr>
          <a:xfrm>
            <a:off x="9098280" y="3209544"/>
            <a:ext cx="1627632" cy="182880"/>
          </a:xfrm>
          <a:prstGeom prst="rect">
            <a:avLst/>
          </a:prstGeom>
          <a:noFill/>
          <a:ln/>
        </p:spPr>
        <p:txBody>
          <a:bodyPr wrap="square" lIns="0" tIns="0" rIns="0" bIns="0" rtlCol="0" anchor="ctr"/>
          <a:lstStyle/>
          <a:p>
            <a:pPr algn="ctr" indent="0" marL="0">
              <a:buNone/>
            </a:pPr>
            <a:r>
              <a:rPr lang="en-US" sz="1030" b="1" dirty="0">
                <a:solidFill>
                  <a:srgbClr val="16324F"/>
                </a:solidFill>
              </a:rPr>
              <a:t>TRAIN</a:t>
            </a:r>
            <a:endParaRPr lang="en-US" sz="1030" dirty="0"/>
          </a:p>
        </p:txBody>
      </p:sp>
      <p:sp>
        <p:nvSpPr>
          <p:cNvPr id="37" name="Text 35"/>
          <p:cNvSpPr/>
          <p:nvPr/>
        </p:nvSpPr>
        <p:spPr>
          <a:xfrm>
            <a:off x="658368" y="3941064"/>
            <a:ext cx="914400" cy="182880"/>
          </a:xfrm>
          <a:prstGeom prst="rect">
            <a:avLst/>
          </a:prstGeom>
          <a:noFill/>
          <a:ln/>
        </p:spPr>
        <p:txBody>
          <a:bodyPr wrap="square" lIns="0" tIns="0" rIns="0" bIns="0" rtlCol="0" anchor="ctr"/>
          <a:lstStyle/>
          <a:p>
            <a:pPr indent="0" marL="0">
              <a:buNone/>
            </a:pPr>
            <a:r>
              <a:rPr lang="en-US" sz="950" dirty="0">
                <a:solidFill>
                  <a:srgbClr val="687582"/>
                </a:solidFill>
              </a:rPr>
              <a:t>Iteración 4</a:t>
            </a:r>
            <a:endParaRPr lang="en-US" sz="950" dirty="0"/>
          </a:p>
        </p:txBody>
      </p:sp>
      <p:sp>
        <p:nvSpPr>
          <p:cNvPr id="38" name="Shape 36"/>
          <p:cNvSpPr/>
          <p:nvPr/>
        </p:nvSpPr>
        <p:spPr>
          <a:xfrm>
            <a:off x="1783080" y="3758184"/>
            <a:ext cx="1627632" cy="658368"/>
          </a:xfrm>
          <a:prstGeom prst="roundRect">
            <a:avLst>
              <a:gd name="adj" fmla="val 4167"/>
            </a:avLst>
          </a:prstGeom>
          <a:solidFill>
            <a:srgbClr val="DCEAF5"/>
          </a:solidFill>
          <a:ln w="12700">
            <a:solidFill>
              <a:srgbClr val="C7D5E0"/>
            </a:solidFill>
            <a:prstDash val="solid"/>
          </a:ln>
        </p:spPr>
      </p:sp>
      <p:sp>
        <p:nvSpPr>
          <p:cNvPr id="39" name="Text 37"/>
          <p:cNvSpPr/>
          <p:nvPr/>
        </p:nvSpPr>
        <p:spPr>
          <a:xfrm>
            <a:off x="1783080" y="3959352"/>
            <a:ext cx="1627632" cy="182880"/>
          </a:xfrm>
          <a:prstGeom prst="rect">
            <a:avLst/>
          </a:prstGeom>
          <a:noFill/>
          <a:ln/>
        </p:spPr>
        <p:txBody>
          <a:bodyPr wrap="square" lIns="0" tIns="0" rIns="0" bIns="0" rtlCol="0" anchor="ctr"/>
          <a:lstStyle/>
          <a:p>
            <a:pPr algn="ctr" indent="0" marL="0">
              <a:buNone/>
            </a:pPr>
            <a:r>
              <a:rPr lang="en-US" sz="1030" b="1" dirty="0">
                <a:solidFill>
                  <a:srgbClr val="16324F"/>
                </a:solidFill>
              </a:rPr>
              <a:t>TRAIN</a:t>
            </a:r>
            <a:endParaRPr lang="en-US" sz="1030" dirty="0"/>
          </a:p>
        </p:txBody>
      </p:sp>
      <p:sp>
        <p:nvSpPr>
          <p:cNvPr id="40" name="Shape 38"/>
          <p:cNvSpPr/>
          <p:nvPr/>
        </p:nvSpPr>
        <p:spPr>
          <a:xfrm>
            <a:off x="3611880" y="3758184"/>
            <a:ext cx="1627632" cy="658368"/>
          </a:xfrm>
          <a:prstGeom prst="roundRect">
            <a:avLst>
              <a:gd name="adj" fmla="val 4167"/>
            </a:avLst>
          </a:prstGeom>
          <a:solidFill>
            <a:srgbClr val="E7EFF5"/>
          </a:solidFill>
          <a:ln w="12700">
            <a:solidFill>
              <a:srgbClr val="C7D5E0"/>
            </a:solidFill>
            <a:prstDash val="solid"/>
          </a:ln>
        </p:spPr>
      </p:sp>
      <p:sp>
        <p:nvSpPr>
          <p:cNvPr id="41" name="Text 39"/>
          <p:cNvSpPr/>
          <p:nvPr/>
        </p:nvSpPr>
        <p:spPr>
          <a:xfrm>
            <a:off x="3611880" y="3959352"/>
            <a:ext cx="1627632" cy="182880"/>
          </a:xfrm>
          <a:prstGeom prst="rect">
            <a:avLst/>
          </a:prstGeom>
          <a:noFill/>
          <a:ln/>
        </p:spPr>
        <p:txBody>
          <a:bodyPr wrap="square" lIns="0" tIns="0" rIns="0" bIns="0" rtlCol="0" anchor="ctr"/>
          <a:lstStyle/>
          <a:p>
            <a:pPr algn="ctr" indent="0" marL="0">
              <a:buNone/>
            </a:pPr>
            <a:r>
              <a:rPr lang="en-US" sz="1030" b="1" dirty="0">
                <a:solidFill>
                  <a:srgbClr val="16324F"/>
                </a:solidFill>
              </a:rPr>
              <a:t>TRAIN</a:t>
            </a:r>
            <a:endParaRPr lang="en-US" sz="1030" dirty="0"/>
          </a:p>
        </p:txBody>
      </p:sp>
      <p:sp>
        <p:nvSpPr>
          <p:cNvPr id="42" name="Shape 40"/>
          <p:cNvSpPr/>
          <p:nvPr/>
        </p:nvSpPr>
        <p:spPr>
          <a:xfrm>
            <a:off x="5440680" y="3758184"/>
            <a:ext cx="1627632" cy="658368"/>
          </a:xfrm>
          <a:prstGeom prst="roundRect">
            <a:avLst>
              <a:gd name="adj" fmla="val 4167"/>
            </a:avLst>
          </a:prstGeom>
          <a:solidFill>
            <a:srgbClr val="DCEAF5"/>
          </a:solidFill>
          <a:ln w="12700">
            <a:solidFill>
              <a:srgbClr val="C7D5E0"/>
            </a:solidFill>
            <a:prstDash val="solid"/>
          </a:ln>
        </p:spPr>
      </p:sp>
      <p:sp>
        <p:nvSpPr>
          <p:cNvPr id="43" name="Text 41"/>
          <p:cNvSpPr/>
          <p:nvPr/>
        </p:nvSpPr>
        <p:spPr>
          <a:xfrm>
            <a:off x="5440680" y="3959352"/>
            <a:ext cx="1627632" cy="182880"/>
          </a:xfrm>
          <a:prstGeom prst="rect">
            <a:avLst/>
          </a:prstGeom>
          <a:noFill/>
          <a:ln/>
        </p:spPr>
        <p:txBody>
          <a:bodyPr wrap="square" lIns="0" tIns="0" rIns="0" bIns="0" rtlCol="0" anchor="ctr"/>
          <a:lstStyle/>
          <a:p>
            <a:pPr algn="ctr" indent="0" marL="0">
              <a:buNone/>
            </a:pPr>
            <a:r>
              <a:rPr lang="en-US" sz="1030" b="1" dirty="0">
                <a:solidFill>
                  <a:srgbClr val="16324F"/>
                </a:solidFill>
              </a:rPr>
              <a:t>TRAIN</a:t>
            </a:r>
            <a:endParaRPr lang="en-US" sz="1030" dirty="0"/>
          </a:p>
        </p:txBody>
      </p:sp>
      <p:sp>
        <p:nvSpPr>
          <p:cNvPr id="44" name="Shape 42"/>
          <p:cNvSpPr/>
          <p:nvPr/>
        </p:nvSpPr>
        <p:spPr>
          <a:xfrm>
            <a:off x="7269480" y="3758184"/>
            <a:ext cx="1627632" cy="658368"/>
          </a:xfrm>
          <a:prstGeom prst="roundRect">
            <a:avLst>
              <a:gd name="adj" fmla="val 4167"/>
            </a:avLst>
          </a:prstGeom>
          <a:solidFill>
            <a:srgbClr val="F8E5E5"/>
          </a:solidFill>
          <a:ln w="12700">
            <a:solidFill>
              <a:srgbClr val="DCA8A8"/>
            </a:solidFill>
            <a:prstDash val="solid"/>
          </a:ln>
        </p:spPr>
      </p:sp>
      <p:sp>
        <p:nvSpPr>
          <p:cNvPr id="45" name="Text 43"/>
          <p:cNvSpPr/>
          <p:nvPr/>
        </p:nvSpPr>
        <p:spPr>
          <a:xfrm>
            <a:off x="7269480" y="3959352"/>
            <a:ext cx="1627632" cy="182880"/>
          </a:xfrm>
          <a:prstGeom prst="rect">
            <a:avLst/>
          </a:prstGeom>
          <a:noFill/>
          <a:ln/>
        </p:spPr>
        <p:txBody>
          <a:bodyPr wrap="square" lIns="0" tIns="0" rIns="0" bIns="0" rtlCol="0" anchor="ctr"/>
          <a:lstStyle/>
          <a:p>
            <a:pPr algn="ctr" indent="0" marL="0">
              <a:buNone/>
            </a:pPr>
            <a:r>
              <a:rPr lang="en-US" sz="1030" b="1" dirty="0">
                <a:solidFill>
                  <a:srgbClr val="B95151"/>
                </a:solidFill>
              </a:rPr>
              <a:t>TEST</a:t>
            </a:r>
            <a:endParaRPr lang="en-US" sz="1030" dirty="0"/>
          </a:p>
        </p:txBody>
      </p:sp>
      <p:sp>
        <p:nvSpPr>
          <p:cNvPr id="46" name="Shape 44"/>
          <p:cNvSpPr/>
          <p:nvPr/>
        </p:nvSpPr>
        <p:spPr>
          <a:xfrm>
            <a:off x="9098280" y="3758184"/>
            <a:ext cx="1627632" cy="658368"/>
          </a:xfrm>
          <a:prstGeom prst="roundRect">
            <a:avLst>
              <a:gd name="adj" fmla="val 4167"/>
            </a:avLst>
          </a:prstGeom>
          <a:solidFill>
            <a:srgbClr val="DCEAF5"/>
          </a:solidFill>
          <a:ln w="12700">
            <a:solidFill>
              <a:srgbClr val="C7D5E0"/>
            </a:solidFill>
            <a:prstDash val="solid"/>
          </a:ln>
        </p:spPr>
      </p:sp>
      <p:sp>
        <p:nvSpPr>
          <p:cNvPr id="47" name="Text 45"/>
          <p:cNvSpPr/>
          <p:nvPr/>
        </p:nvSpPr>
        <p:spPr>
          <a:xfrm>
            <a:off x="9098280" y="3959352"/>
            <a:ext cx="1627632" cy="182880"/>
          </a:xfrm>
          <a:prstGeom prst="rect">
            <a:avLst/>
          </a:prstGeom>
          <a:noFill/>
          <a:ln/>
        </p:spPr>
        <p:txBody>
          <a:bodyPr wrap="square" lIns="0" tIns="0" rIns="0" bIns="0" rtlCol="0" anchor="ctr"/>
          <a:lstStyle/>
          <a:p>
            <a:pPr algn="ctr" indent="0" marL="0">
              <a:buNone/>
            </a:pPr>
            <a:r>
              <a:rPr lang="en-US" sz="1030" b="1" dirty="0">
                <a:solidFill>
                  <a:srgbClr val="16324F"/>
                </a:solidFill>
              </a:rPr>
              <a:t>TRAIN</a:t>
            </a:r>
            <a:endParaRPr lang="en-US" sz="1030" dirty="0"/>
          </a:p>
        </p:txBody>
      </p:sp>
      <p:sp>
        <p:nvSpPr>
          <p:cNvPr id="48" name="Text 46"/>
          <p:cNvSpPr/>
          <p:nvPr/>
        </p:nvSpPr>
        <p:spPr>
          <a:xfrm>
            <a:off x="658368" y="4690872"/>
            <a:ext cx="914400" cy="182880"/>
          </a:xfrm>
          <a:prstGeom prst="rect">
            <a:avLst/>
          </a:prstGeom>
          <a:noFill/>
          <a:ln/>
        </p:spPr>
        <p:txBody>
          <a:bodyPr wrap="square" lIns="0" tIns="0" rIns="0" bIns="0" rtlCol="0" anchor="ctr"/>
          <a:lstStyle/>
          <a:p>
            <a:pPr indent="0" marL="0">
              <a:buNone/>
            </a:pPr>
            <a:r>
              <a:rPr lang="en-US" sz="950" dirty="0">
                <a:solidFill>
                  <a:srgbClr val="687582"/>
                </a:solidFill>
              </a:rPr>
              <a:t>Iteración 5</a:t>
            </a:r>
            <a:endParaRPr lang="en-US" sz="950" dirty="0"/>
          </a:p>
        </p:txBody>
      </p:sp>
      <p:sp>
        <p:nvSpPr>
          <p:cNvPr id="49" name="Shape 47"/>
          <p:cNvSpPr/>
          <p:nvPr/>
        </p:nvSpPr>
        <p:spPr>
          <a:xfrm>
            <a:off x="1783080" y="4507992"/>
            <a:ext cx="1627632" cy="658368"/>
          </a:xfrm>
          <a:prstGeom prst="roundRect">
            <a:avLst>
              <a:gd name="adj" fmla="val 4167"/>
            </a:avLst>
          </a:prstGeom>
          <a:solidFill>
            <a:srgbClr val="DCEAF5"/>
          </a:solidFill>
          <a:ln w="12700">
            <a:solidFill>
              <a:srgbClr val="C7D5E0"/>
            </a:solidFill>
            <a:prstDash val="solid"/>
          </a:ln>
        </p:spPr>
      </p:sp>
      <p:sp>
        <p:nvSpPr>
          <p:cNvPr id="50" name="Text 48"/>
          <p:cNvSpPr/>
          <p:nvPr/>
        </p:nvSpPr>
        <p:spPr>
          <a:xfrm>
            <a:off x="1783080" y="4709160"/>
            <a:ext cx="1627632" cy="182880"/>
          </a:xfrm>
          <a:prstGeom prst="rect">
            <a:avLst/>
          </a:prstGeom>
          <a:noFill/>
          <a:ln/>
        </p:spPr>
        <p:txBody>
          <a:bodyPr wrap="square" lIns="0" tIns="0" rIns="0" bIns="0" rtlCol="0" anchor="ctr"/>
          <a:lstStyle/>
          <a:p>
            <a:pPr algn="ctr" indent="0" marL="0">
              <a:buNone/>
            </a:pPr>
            <a:r>
              <a:rPr lang="en-US" sz="1030" b="1" dirty="0">
                <a:solidFill>
                  <a:srgbClr val="16324F"/>
                </a:solidFill>
              </a:rPr>
              <a:t>TRAIN</a:t>
            </a:r>
            <a:endParaRPr lang="en-US" sz="1030" dirty="0"/>
          </a:p>
        </p:txBody>
      </p:sp>
      <p:sp>
        <p:nvSpPr>
          <p:cNvPr id="51" name="Shape 49"/>
          <p:cNvSpPr/>
          <p:nvPr/>
        </p:nvSpPr>
        <p:spPr>
          <a:xfrm>
            <a:off x="3611880" y="4507992"/>
            <a:ext cx="1627632" cy="658368"/>
          </a:xfrm>
          <a:prstGeom prst="roundRect">
            <a:avLst>
              <a:gd name="adj" fmla="val 4167"/>
            </a:avLst>
          </a:prstGeom>
          <a:solidFill>
            <a:srgbClr val="E7EFF5"/>
          </a:solidFill>
          <a:ln w="12700">
            <a:solidFill>
              <a:srgbClr val="C7D5E0"/>
            </a:solidFill>
            <a:prstDash val="solid"/>
          </a:ln>
        </p:spPr>
      </p:sp>
      <p:sp>
        <p:nvSpPr>
          <p:cNvPr id="52" name="Text 50"/>
          <p:cNvSpPr/>
          <p:nvPr/>
        </p:nvSpPr>
        <p:spPr>
          <a:xfrm>
            <a:off x="3611880" y="4709160"/>
            <a:ext cx="1627632" cy="182880"/>
          </a:xfrm>
          <a:prstGeom prst="rect">
            <a:avLst/>
          </a:prstGeom>
          <a:noFill/>
          <a:ln/>
        </p:spPr>
        <p:txBody>
          <a:bodyPr wrap="square" lIns="0" tIns="0" rIns="0" bIns="0" rtlCol="0" anchor="ctr"/>
          <a:lstStyle/>
          <a:p>
            <a:pPr algn="ctr" indent="0" marL="0">
              <a:buNone/>
            </a:pPr>
            <a:r>
              <a:rPr lang="en-US" sz="1030" b="1" dirty="0">
                <a:solidFill>
                  <a:srgbClr val="16324F"/>
                </a:solidFill>
              </a:rPr>
              <a:t>TRAIN</a:t>
            </a:r>
            <a:endParaRPr lang="en-US" sz="1030" dirty="0"/>
          </a:p>
        </p:txBody>
      </p:sp>
      <p:sp>
        <p:nvSpPr>
          <p:cNvPr id="53" name="Shape 51"/>
          <p:cNvSpPr/>
          <p:nvPr/>
        </p:nvSpPr>
        <p:spPr>
          <a:xfrm>
            <a:off x="5440680" y="4507992"/>
            <a:ext cx="1627632" cy="658368"/>
          </a:xfrm>
          <a:prstGeom prst="roundRect">
            <a:avLst>
              <a:gd name="adj" fmla="val 4167"/>
            </a:avLst>
          </a:prstGeom>
          <a:solidFill>
            <a:srgbClr val="DCEAF5"/>
          </a:solidFill>
          <a:ln w="12700">
            <a:solidFill>
              <a:srgbClr val="C7D5E0"/>
            </a:solidFill>
            <a:prstDash val="solid"/>
          </a:ln>
        </p:spPr>
      </p:sp>
      <p:sp>
        <p:nvSpPr>
          <p:cNvPr id="54" name="Text 52"/>
          <p:cNvSpPr/>
          <p:nvPr/>
        </p:nvSpPr>
        <p:spPr>
          <a:xfrm>
            <a:off x="5440680" y="4709160"/>
            <a:ext cx="1627632" cy="182880"/>
          </a:xfrm>
          <a:prstGeom prst="rect">
            <a:avLst/>
          </a:prstGeom>
          <a:noFill/>
          <a:ln/>
        </p:spPr>
        <p:txBody>
          <a:bodyPr wrap="square" lIns="0" tIns="0" rIns="0" bIns="0" rtlCol="0" anchor="ctr"/>
          <a:lstStyle/>
          <a:p>
            <a:pPr algn="ctr" indent="0" marL="0">
              <a:buNone/>
            </a:pPr>
            <a:r>
              <a:rPr lang="en-US" sz="1030" b="1" dirty="0">
                <a:solidFill>
                  <a:srgbClr val="16324F"/>
                </a:solidFill>
              </a:rPr>
              <a:t>TRAIN</a:t>
            </a:r>
            <a:endParaRPr lang="en-US" sz="1030" dirty="0"/>
          </a:p>
        </p:txBody>
      </p:sp>
      <p:sp>
        <p:nvSpPr>
          <p:cNvPr id="55" name="Shape 53"/>
          <p:cNvSpPr/>
          <p:nvPr/>
        </p:nvSpPr>
        <p:spPr>
          <a:xfrm>
            <a:off x="7269480" y="4507992"/>
            <a:ext cx="1627632" cy="658368"/>
          </a:xfrm>
          <a:prstGeom prst="roundRect">
            <a:avLst>
              <a:gd name="adj" fmla="val 4167"/>
            </a:avLst>
          </a:prstGeom>
          <a:solidFill>
            <a:srgbClr val="E7EFF5"/>
          </a:solidFill>
          <a:ln w="12700">
            <a:solidFill>
              <a:srgbClr val="C7D5E0"/>
            </a:solidFill>
            <a:prstDash val="solid"/>
          </a:ln>
        </p:spPr>
      </p:sp>
      <p:sp>
        <p:nvSpPr>
          <p:cNvPr id="56" name="Text 54"/>
          <p:cNvSpPr/>
          <p:nvPr/>
        </p:nvSpPr>
        <p:spPr>
          <a:xfrm>
            <a:off x="7269480" y="4709160"/>
            <a:ext cx="1627632" cy="182880"/>
          </a:xfrm>
          <a:prstGeom prst="rect">
            <a:avLst/>
          </a:prstGeom>
          <a:noFill/>
          <a:ln/>
        </p:spPr>
        <p:txBody>
          <a:bodyPr wrap="square" lIns="0" tIns="0" rIns="0" bIns="0" rtlCol="0" anchor="ctr"/>
          <a:lstStyle/>
          <a:p>
            <a:pPr algn="ctr" indent="0" marL="0">
              <a:buNone/>
            </a:pPr>
            <a:r>
              <a:rPr lang="en-US" sz="1030" b="1" dirty="0">
                <a:solidFill>
                  <a:srgbClr val="16324F"/>
                </a:solidFill>
              </a:rPr>
              <a:t>TRAIN</a:t>
            </a:r>
            <a:endParaRPr lang="en-US" sz="1030" dirty="0"/>
          </a:p>
        </p:txBody>
      </p:sp>
      <p:sp>
        <p:nvSpPr>
          <p:cNvPr id="57" name="Shape 55"/>
          <p:cNvSpPr/>
          <p:nvPr/>
        </p:nvSpPr>
        <p:spPr>
          <a:xfrm>
            <a:off x="9098280" y="4507992"/>
            <a:ext cx="1627632" cy="658368"/>
          </a:xfrm>
          <a:prstGeom prst="roundRect">
            <a:avLst>
              <a:gd name="adj" fmla="val 4167"/>
            </a:avLst>
          </a:prstGeom>
          <a:solidFill>
            <a:srgbClr val="F8E5E5"/>
          </a:solidFill>
          <a:ln w="12700">
            <a:solidFill>
              <a:srgbClr val="DCA8A8"/>
            </a:solidFill>
            <a:prstDash val="solid"/>
          </a:ln>
        </p:spPr>
      </p:sp>
      <p:sp>
        <p:nvSpPr>
          <p:cNvPr id="58" name="Text 56"/>
          <p:cNvSpPr/>
          <p:nvPr/>
        </p:nvSpPr>
        <p:spPr>
          <a:xfrm>
            <a:off x="9098280" y="4709160"/>
            <a:ext cx="1627632" cy="182880"/>
          </a:xfrm>
          <a:prstGeom prst="rect">
            <a:avLst/>
          </a:prstGeom>
          <a:noFill/>
          <a:ln/>
        </p:spPr>
        <p:txBody>
          <a:bodyPr wrap="square" lIns="0" tIns="0" rIns="0" bIns="0" rtlCol="0" anchor="ctr"/>
          <a:lstStyle/>
          <a:p>
            <a:pPr algn="ctr" indent="0" marL="0">
              <a:buNone/>
            </a:pPr>
            <a:r>
              <a:rPr lang="en-US" sz="1030" b="1" dirty="0">
                <a:solidFill>
                  <a:srgbClr val="B95151"/>
                </a:solidFill>
              </a:rPr>
              <a:t>TEST</a:t>
            </a:r>
            <a:endParaRPr lang="en-US" sz="1030" dirty="0"/>
          </a:p>
        </p:txBody>
      </p:sp>
      <p:sp>
        <p:nvSpPr>
          <p:cNvPr id="59" name="Shape 57"/>
          <p:cNvSpPr/>
          <p:nvPr/>
        </p:nvSpPr>
        <p:spPr>
          <a:xfrm>
            <a:off x="1627632" y="5440680"/>
            <a:ext cx="9052560" cy="438912"/>
          </a:xfrm>
          <a:prstGeom prst="roundRect">
            <a:avLst>
              <a:gd name="adj" fmla="val 10417"/>
            </a:avLst>
          </a:prstGeom>
          <a:solidFill>
            <a:srgbClr val="FFFFFF"/>
          </a:solidFill>
          <a:ln w="12700">
            <a:solidFill>
              <a:srgbClr val="DCE3E8"/>
            </a:solidFill>
            <a:prstDash val="solid"/>
          </a:ln>
        </p:spPr>
      </p:sp>
      <p:sp>
        <p:nvSpPr>
          <p:cNvPr id="60" name="Text 58"/>
          <p:cNvSpPr/>
          <p:nvPr/>
        </p:nvSpPr>
        <p:spPr>
          <a:xfrm>
            <a:off x="1847088" y="5559552"/>
            <a:ext cx="8595360" cy="201168"/>
          </a:xfrm>
          <a:prstGeom prst="rect">
            <a:avLst/>
          </a:prstGeom>
          <a:noFill/>
          <a:ln/>
        </p:spPr>
        <p:txBody>
          <a:bodyPr wrap="square" lIns="0" tIns="0" rIns="0" bIns="0" rtlCol="0" anchor="ctr"/>
          <a:lstStyle/>
          <a:p>
            <a:pPr algn="ctr" indent="0" marL="0">
              <a:buNone/>
            </a:pPr>
            <a:r>
              <a:rPr lang="en-US" sz="1150" b="1" dirty="0">
                <a:solidFill>
                  <a:srgbClr val="16324F"/>
                </a:solidFill>
              </a:rPr>
              <a:t>Resultado: 650 pacientes → 650 probabilidades generadas por modelos que no habían visto a ese paciente.</a:t>
            </a:r>
            <a:endParaRPr lang="en-US" sz="1150" dirty="0"/>
          </a:p>
        </p:txBody>
      </p:sp>
      <p:sp>
        <p:nvSpPr>
          <p:cNvPr id="61" name="Shape 59"/>
          <p:cNvSpPr/>
          <p:nvPr/>
        </p:nvSpPr>
        <p:spPr>
          <a:xfrm>
            <a:off x="640080" y="6053328"/>
            <a:ext cx="10881360" cy="457200"/>
          </a:xfrm>
          <a:prstGeom prst="roundRect">
            <a:avLst>
              <a:gd name="adj" fmla="val 16000"/>
            </a:avLst>
          </a:prstGeom>
          <a:solidFill>
            <a:srgbClr val="EAF1F7"/>
          </a:solidFill>
          <a:ln w="12700">
            <a:solidFill>
              <a:srgbClr val="D5E1EB"/>
            </a:solidFill>
            <a:prstDash val="solid"/>
          </a:ln>
        </p:spPr>
      </p:sp>
      <p:sp>
        <p:nvSpPr>
          <p:cNvPr id="62" name="Text 60"/>
          <p:cNvSpPr/>
          <p:nvPr/>
        </p:nvSpPr>
        <p:spPr>
          <a:xfrm>
            <a:off x="804672" y="6163056"/>
            <a:ext cx="10552176" cy="210312"/>
          </a:xfrm>
          <a:prstGeom prst="rect">
            <a:avLst/>
          </a:prstGeom>
          <a:noFill/>
          <a:ln/>
        </p:spPr>
        <p:txBody>
          <a:bodyPr wrap="square" lIns="0" tIns="0" rIns="0" bIns="0" rtlCol="0" anchor="ctr"/>
          <a:lstStyle/>
          <a:p>
            <a:pPr indent="0" marL="0">
              <a:buNone/>
            </a:pPr>
            <a:r>
              <a:rPr lang="en-US" sz="1150" b="1" dirty="0">
                <a:solidFill>
                  <a:srgbClr val="16324F"/>
                </a:solidFill>
              </a:rPr>
              <a:t>Idea clave · las métricas se calculan sobre estas predicciones out-of-fold, no sobre pacientes usados para entrenar el mismo modelo.</a:t>
            </a:r>
            <a:endParaRPr lang="en-US" sz="1150" dirty="0"/>
          </a:p>
        </p:txBody>
      </p:sp>
      <p:sp>
        <p:nvSpPr>
          <p:cNvPr id="25" name="Slide Number Placeholder 0"/>
          <p:cNvSpPr>
            <a:spLocks noGrp="1"/>
          </p:cNvSpPr>
          <p:nvPr>
            <p:ph type="sldNum" sz="quarter" idx="4294967295"/>
          </p:nvPr>
        </p:nvSpPr>
        <p:spPr>
          <a:xfrm>
            <a:off x="11384280" y="6473952"/>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6A2"/>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47472"/>
            <a:ext cx="8046720" cy="438912"/>
          </a:xfrm>
          <a:prstGeom prst="rect">
            <a:avLst/>
          </a:prstGeom>
          <a:noFill/>
          <a:ln/>
        </p:spPr>
        <p:txBody>
          <a:bodyPr wrap="square" lIns="0" tIns="0" rIns="0" bIns="0" rtlCol="0" anchor="ctr"/>
          <a:lstStyle/>
          <a:p>
            <a:pPr indent="0" marL="0">
              <a:buNone/>
            </a:pPr>
            <a:r>
              <a:rPr lang="en-US" sz="2600" b="1" dirty="0">
                <a:solidFill>
                  <a:srgbClr val="16324F"/>
                </a:solidFill>
                <a:latin typeface="Aptos Display" pitchFamily="34" charset="0"/>
                <a:ea typeface="Aptos Display" pitchFamily="34" charset="-122"/>
                <a:cs typeface="Aptos Display" pitchFamily="34" charset="-120"/>
              </a:rPr>
              <a:t>6. Medimos tres cosas distintas</a:t>
            </a:r>
            <a:endParaRPr lang="en-US" sz="2600" dirty="0"/>
          </a:p>
        </p:txBody>
      </p:sp>
      <p:sp>
        <p:nvSpPr>
          <p:cNvPr id="3" name="Text 1"/>
          <p:cNvSpPr/>
          <p:nvPr/>
        </p:nvSpPr>
        <p:spPr>
          <a:xfrm>
            <a:off x="585216" y="841248"/>
            <a:ext cx="10789920" cy="329184"/>
          </a:xfrm>
          <a:prstGeom prst="rect">
            <a:avLst/>
          </a:prstGeom>
          <a:noFill/>
          <a:ln/>
        </p:spPr>
        <p:txBody>
          <a:bodyPr wrap="square" lIns="0" tIns="0" rIns="0" bIns="0" rtlCol="0" anchor="ctr"/>
          <a:lstStyle/>
          <a:p>
            <a:pPr indent="0" marL="0">
              <a:buNone/>
            </a:pPr>
            <a:r>
              <a:rPr lang="en-US" sz="1250" dirty="0">
                <a:solidFill>
                  <a:srgbClr val="687582"/>
                </a:solidFill>
              </a:rPr>
              <a:t>Discriminación, precisión al identificar progresores y calidad de las probabilidades.</a:t>
            </a:r>
            <a:endParaRPr lang="en-US" sz="1250" dirty="0"/>
          </a:p>
        </p:txBody>
      </p:sp>
      <p:pic>
        <p:nvPicPr>
          <p:cNvPr id="4" name="Image 0" descr="/mnt/data/metodologia_roc.png">    </p:cNvPr>
          <p:cNvPicPr>
            <a:picLocks noChangeAspect="1"/>
          </p:cNvPicPr>
          <p:nvPr/>
        </p:nvPicPr>
        <p:blipFill>
          <a:blip r:embed="rId1"/>
          <a:stretch>
            <a:fillRect/>
          </a:stretch>
        </p:blipFill>
        <p:spPr>
          <a:xfrm>
            <a:off x="658368" y="1325880"/>
            <a:ext cx="5897880" cy="4251960"/>
          </a:xfrm>
          <a:prstGeom prst="rect">
            <a:avLst/>
          </a:prstGeom>
        </p:spPr>
      </p:pic>
      <p:sp>
        <p:nvSpPr>
          <p:cNvPr id="5" name="Shape 2"/>
          <p:cNvSpPr/>
          <p:nvPr/>
        </p:nvSpPr>
        <p:spPr>
          <a:xfrm>
            <a:off x="6876288" y="1353312"/>
            <a:ext cx="2148840" cy="1243584"/>
          </a:xfrm>
          <a:prstGeom prst="roundRect">
            <a:avLst>
              <a:gd name="adj" fmla="val 5882"/>
            </a:avLst>
          </a:prstGeom>
          <a:solidFill>
            <a:srgbClr val="FFFFFF"/>
          </a:solidFill>
          <a:ln w="12700">
            <a:solidFill>
              <a:srgbClr val="C9D8E4"/>
            </a:solidFill>
            <a:prstDash val="solid"/>
          </a:ln>
        </p:spPr>
      </p:sp>
      <p:sp>
        <p:nvSpPr>
          <p:cNvPr id="6" name="Text 3"/>
          <p:cNvSpPr/>
          <p:nvPr/>
        </p:nvSpPr>
        <p:spPr>
          <a:xfrm>
            <a:off x="7040880" y="1481328"/>
            <a:ext cx="1819656" cy="164592"/>
          </a:xfrm>
          <a:prstGeom prst="rect">
            <a:avLst/>
          </a:prstGeom>
          <a:noFill/>
          <a:ln/>
        </p:spPr>
        <p:txBody>
          <a:bodyPr wrap="square" lIns="0" tIns="0" rIns="0" bIns="0" rtlCol="0" anchor="ctr"/>
          <a:lstStyle/>
          <a:p>
            <a:pPr indent="0" marL="0">
              <a:buNone/>
            </a:pPr>
            <a:r>
              <a:rPr lang="en-US" sz="900" b="1" dirty="0">
                <a:solidFill>
                  <a:srgbClr val="687582"/>
                </a:solidFill>
              </a:rPr>
              <a:t>ROC-AUC</a:t>
            </a:r>
            <a:endParaRPr lang="en-US" sz="900" dirty="0"/>
          </a:p>
        </p:txBody>
      </p:sp>
      <p:sp>
        <p:nvSpPr>
          <p:cNvPr id="7" name="Text 4"/>
          <p:cNvSpPr/>
          <p:nvPr/>
        </p:nvSpPr>
        <p:spPr>
          <a:xfrm>
            <a:off x="7040880" y="1709928"/>
            <a:ext cx="1819656" cy="292608"/>
          </a:xfrm>
          <a:prstGeom prst="rect">
            <a:avLst/>
          </a:prstGeom>
          <a:noFill/>
          <a:ln/>
        </p:spPr>
        <p:txBody>
          <a:bodyPr wrap="square" lIns="0" tIns="0" rIns="0" bIns="0" rtlCol="0" anchor="ctr"/>
          <a:lstStyle/>
          <a:p>
            <a:pPr indent="0" marL="0">
              <a:buNone/>
            </a:pPr>
            <a:r>
              <a:rPr lang="en-US" sz="2400" b="1" dirty="0">
                <a:solidFill>
                  <a:srgbClr val="16324F"/>
                </a:solidFill>
              </a:rPr>
              <a:t>0,956</a:t>
            </a:r>
            <a:endParaRPr lang="en-US" sz="2400" dirty="0"/>
          </a:p>
        </p:txBody>
      </p:sp>
      <p:sp>
        <p:nvSpPr>
          <p:cNvPr id="8" name="Text 5"/>
          <p:cNvSpPr/>
          <p:nvPr/>
        </p:nvSpPr>
        <p:spPr>
          <a:xfrm>
            <a:off x="7040880" y="2103120"/>
            <a:ext cx="1819656" cy="384048"/>
          </a:xfrm>
          <a:prstGeom prst="rect">
            <a:avLst/>
          </a:prstGeom>
          <a:noFill/>
          <a:ln/>
        </p:spPr>
        <p:txBody>
          <a:bodyPr wrap="square" lIns="254" tIns="254" rIns="254" bIns="254" rtlCol="0" anchor="t">
            <a:normAutofit/>
          </a:bodyPr>
          <a:lstStyle/>
          <a:p>
            <a:pPr indent="0" marL="0">
              <a:buNone/>
            </a:pPr>
            <a:r>
              <a:rPr lang="en-US" sz="1050" dirty="0">
                <a:solidFill>
                  <a:srgbClr val="1F2A35"/>
                </a:solidFill>
              </a:rPr>
              <a:t>Qué bien ordena progresores frente a no progresores.</a:t>
            </a:r>
            <a:endParaRPr lang="en-US" sz="1050" dirty="0"/>
          </a:p>
        </p:txBody>
      </p:sp>
      <p:sp>
        <p:nvSpPr>
          <p:cNvPr id="9" name="Shape 6"/>
          <p:cNvSpPr/>
          <p:nvPr/>
        </p:nvSpPr>
        <p:spPr>
          <a:xfrm>
            <a:off x="9253728" y="1353312"/>
            <a:ext cx="2148840" cy="1243584"/>
          </a:xfrm>
          <a:prstGeom prst="roundRect">
            <a:avLst>
              <a:gd name="adj" fmla="val 5882"/>
            </a:avLst>
          </a:prstGeom>
          <a:solidFill>
            <a:srgbClr val="FFFFFF"/>
          </a:solidFill>
          <a:ln w="12700">
            <a:solidFill>
              <a:srgbClr val="DCE3E8"/>
            </a:solidFill>
            <a:prstDash val="solid"/>
          </a:ln>
        </p:spPr>
      </p:sp>
      <p:sp>
        <p:nvSpPr>
          <p:cNvPr id="10" name="Text 7"/>
          <p:cNvSpPr/>
          <p:nvPr/>
        </p:nvSpPr>
        <p:spPr>
          <a:xfrm>
            <a:off x="9418320" y="1481328"/>
            <a:ext cx="1819656" cy="164592"/>
          </a:xfrm>
          <a:prstGeom prst="rect">
            <a:avLst/>
          </a:prstGeom>
          <a:noFill/>
          <a:ln/>
        </p:spPr>
        <p:txBody>
          <a:bodyPr wrap="square" lIns="0" tIns="0" rIns="0" bIns="0" rtlCol="0" anchor="ctr"/>
          <a:lstStyle/>
          <a:p>
            <a:pPr indent="0" marL="0">
              <a:buNone/>
            </a:pPr>
            <a:r>
              <a:rPr lang="en-US" sz="900" b="1" dirty="0">
                <a:solidFill>
                  <a:srgbClr val="687582"/>
                </a:solidFill>
              </a:rPr>
              <a:t>AVERAGE PRECISION</a:t>
            </a:r>
            <a:endParaRPr lang="en-US" sz="900" dirty="0"/>
          </a:p>
        </p:txBody>
      </p:sp>
      <p:sp>
        <p:nvSpPr>
          <p:cNvPr id="11" name="Text 8"/>
          <p:cNvSpPr/>
          <p:nvPr/>
        </p:nvSpPr>
        <p:spPr>
          <a:xfrm>
            <a:off x="9418320" y="1709928"/>
            <a:ext cx="1819656" cy="292608"/>
          </a:xfrm>
          <a:prstGeom prst="rect">
            <a:avLst/>
          </a:prstGeom>
          <a:noFill/>
          <a:ln/>
        </p:spPr>
        <p:txBody>
          <a:bodyPr wrap="square" lIns="0" tIns="0" rIns="0" bIns="0" rtlCol="0" anchor="ctr"/>
          <a:lstStyle/>
          <a:p>
            <a:pPr indent="0" marL="0">
              <a:buNone/>
            </a:pPr>
            <a:r>
              <a:rPr lang="en-US" sz="2400" b="1" dirty="0">
                <a:solidFill>
                  <a:srgbClr val="16324F"/>
                </a:solidFill>
              </a:rPr>
              <a:t>0,938</a:t>
            </a:r>
            <a:endParaRPr lang="en-US" sz="2400" dirty="0"/>
          </a:p>
        </p:txBody>
      </p:sp>
      <p:sp>
        <p:nvSpPr>
          <p:cNvPr id="12" name="Text 9"/>
          <p:cNvSpPr/>
          <p:nvPr/>
        </p:nvSpPr>
        <p:spPr>
          <a:xfrm>
            <a:off x="9418320" y="2103120"/>
            <a:ext cx="1819656" cy="384048"/>
          </a:xfrm>
          <a:prstGeom prst="rect">
            <a:avLst/>
          </a:prstGeom>
          <a:noFill/>
          <a:ln/>
        </p:spPr>
        <p:txBody>
          <a:bodyPr wrap="square" lIns="254" tIns="254" rIns="254" bIns="254" rtlCol="0" anchor="t">
            <a:normAutofit/>
          </a:bodyPr>
          <a:lstStyle/>
          <a:p>
            <a:pPr indent="0" marL="0">
              <a:buNone/>
            </a:pPr>
            <a:r>
              <a:rPr lang="en-US" sz="1050" dirty="0">
                <a:solidFill>
                  <a:srgbClr val="1F2A35"/>
                </a:solidFill>
              </a:rPr>
              <a:t>Resume precision + recall; complementa al AUC.</a:t>
            </a:r>
            <a:endParaRPr lang="en-US" sz="1050" dirty="0"/>
          </a:p>
        </p:txBody>
      </p:sp>
      <p:sp>
        <p:nvSpPr>
          <p:cNvPr id="13" name="Shape 10"/>
          <p:cNvSpPr/>
          <p:nvPr/>
        </p:nvSpPr>
        <p:spPr>
          <a:xfrm>
            <a:off x="6876288" y="2880360"/>
            <a:ext cx="2148840" cy="1243584"/>
          </a:xfrm>
          <a:prstGeom prst="roundRect">
            <a:avLst>
              <a:gd name="adj" fmla="val 5882"/>
            </a:avLst>
          </a:prstGeom>
          <a:solidFill>
            <a:srgbClr val="FFFFFF"/>
          </a:solidFill>
          <a:ln w="12700">
            <a:solidFill>
              <a:srgbClr val="DCE3E8"/>
            </a:solidFill>
            <a:prstDash val="solid"/>
          </a:ln>
        </p:spPr>
      </p:sp>
      <p:sp>
        <p:nvSpPr>
          <p:cNvPr id="14" name="Text 11"/>
          <p:cNvSpPr/>
          <p:nvPr/>
        </p:nvSpPr>
        <p:spPr>
          <a:xfrm>
            <a:off x="7040880" y="3008376"/>
            <a:ext cx="1819656" cy="164592"/>
          </a:xfrm>
          <a:prstGeom prst="rect">
            <a:avLst/>
          </a:prstGeom>
          <a:noFill/>
          <a:ln/>
        </p:spPr>
        <p:txBody>
          <a:bodyPr wrap="square" lIns="0" tIns="0" rIns="0" bIns="0" rtlCol="0" anchor="ctr"/>
          <a:lstStyle/>
          <a:p>
            <a:pPr indent="0" marL="0">
              <a:buNone/>
            </a:pPr>
            <a:r>
              <a:rPr lang="en-US" sz="900" b="1" dirty="0">
                <a:solidFill>
                  <a:srgbClr val="687582"/>
                </a:solidFill>
              </a:rPr>
              <a:t>BRIER SCORE</a:t>
            </a:r>
            <a:endParaRPr lang="en-US" sz="900" dirty="0"/>
          </a:p>
        </p:txBody>
      </p:sp>
      <p:sp>
        <p:nvSpPr>
          <p:cNvPr id="15" name="Text 12"/>
          <p:cNvSpPr/>
          <p:nvPr/>
        </p:nvSpPr>
        <p:spPr>
          <a:xfrm>
            <a:off x="7040880" y="3236976"/>
            <a:ext cx="1819656" cy="292608"/>
          </a:xfrm>
          <a:prstGeom prst="rect">
            <a:avLst/>
          </a:prstGeom>
          <a:noFill/>
          <a:ln/>
        </p:spPr>
        <p:txBody>
          <a:bodyPr wrap="square" lIns="0" tIns="0" rIns="0" bIns="0" rtlCol="0" anchor="ctr"/>
          <a:lstStyle/>
          <a:p>
            <a:pPr indent="0" marL="0">
              <a:buNone/>
            </a:pPr>
            <a:r>
              <a:rPr lang="en-US" sz="2400" b="1" dirty="0">
                <a:solidFill>
                  <a:srgbClr val="16324F"/>
                </a:solidFill>
              </a:rPr>
              <a:t>0,081</a:t>
            </a:r>
            <a:endParaRPr lang="en-US" sz="2400" dirty="0"/>
          </a:p>
        </p:txBody>
      </p:sp>
      <p:sp>
        <p:nvSpPr>
          <p:cNvPr id="16" name="Text 13"/>
          <p:cNvSpPr/>
          <p:nvPr/>
        </p:nvSpPr>
        <p:spPr>
          <a:xfrm>
            <a:off x="7040880" y="3630168"/>
            <a:ext cx="1819656" cy="384048"/>
          </a:xfrm>
          <a:prstGeom prst="rect">
            <a:avLst/>
          </a:prstGeom>
          <a:noFill/>
          <a:ln/>
        </p:spPr>
        <p:txBody>
          <a:bodyPr wrap="square" lIns="254" tIns="254" rIns="254" bIns="254" rtlCol="0" anchor="t">
            <a:normAutofit/>
          </a:bodyPr>
          <a:lstStyle/>
          <a:p>
            <a:pPr indent="0" marL="0">
              <a:buNone/>
            </a:pPr>
            <a:r>
              <a:rPr lang="en-US" sz="1020" dirty="0">
                <a:solidFill>
                  <a:srgbClr val="1F2A35"/>
                </a:solidFill>
              </a:rPr>
              <a:t>Error de las probabilidades predichas. Aquí, menor es mejor.</a:t>
            </a:r>
            <a:endParaRPr lang="en-US" sz="1020" dirty="0"/>
          </a:p>
        </p:txBody>
      </p:sp>
      <p:sp>
        <p:nvSpPr>
          <p:cNvPr id="17" name="Shape 14"/>
          <p:cNvSpPr/>
          <p:nvPr/>
        </p:nvSpPr>
        <p:spPr>
          <a:xfrm>
            <a:off x="9253728" y="2880360"/>
            <a:ext cx="2148840" cy="1243584"/>
          </a:xfrm>
          <a:prstGeom prst="roundRect">
            <a:avLst>
              <a:gd name="adj" fmla="val 5882"/>
            </a:avLst>
          </a:prstGeom>
          <a:solidFill>
            <a:srgbClr val="F8FAFB"/>
          </a:solidFill>
          <a:ln w="12700">
            <a:solidFill>
              <a:srgbClr val="DCE3E8"/>
            </a:solidFill>
            <a:prstDash val="solid"/>
          </a:ln>
        </p:spPr>
      </p:sp>
      <p:sp>
        <p:nvSpPr>
          <p:cNvPr id="18" name="Text 15"/>
          <p:cNvSpPr/>
          <p:nvPr/>
        </p:nvSpPr>
        <p:spPr>
          <a:xfrm>
            <a:off x="9418320" y="3008376"/>
            <a:ext cx="1819656" cy="164592"/>
          </a:xfrm>
          <a:prstGeom prst="rect">
            <a:avLst/>
          </a:prstGeom>
          <a:noFill/>
          <a:ln/>
        </p:spPr>
        <p:txBody>
          <a:bodyPr wrap="square" lIns="0" tIns="0" rIns="0" bIns="0" rtlCol="0" anchor="ctr"/>
          <a:lstStyle/>
          <a:p>
            <a:pPr indent="0" marL="0">
              <a:buNone/>
            </a:pPr>
            <a:r>
              <a:rPr lang="en-US" sz="900" b="1" dirty="0">
                <a:solidFill>
                  <a:srgbClr val="687582"/>
                </a:solidFill>
              </a:rPr>
              <a:t>INTERPRETACIÓN AUC</a:t>
            </a:r>
            <a:endParaRPr lang="en-US" sz="900" dirty="0"/>
          </a:p>
        </p:txBody>
      </p:sp>
      <p:sp>
        <p:nvSpPr>
          <p:cNvPr id="19" name="Text 16"/>
          <p:cNvSpPr/>
          <p:nvPr/>
        </p:nvSpPr>
        <p:spPr>
          <a:xfrm>
            <a:off x="9418320" y="3236976"/>
            <a:ext cx="1819656" cy="292608"/>
          </a:xfrm>
          <a:prstGeom prst="rect">
            <a:avLst/>
          </a:prstGeom>
          <a:noFill/>
          <a:ln/>
        </p:spPr>
        <p:txBody>
          <a:bodyPr wrap="square" lIns="0" tIns="0" rIns="0" bIns="0" rtlCol="0" anchor="ctr"/>
          <a:lstStyle/>
          <a:p>
            <a:pPr indent="0" marL="0">
              <a:buNone/>
            </a:pPr>
            <a:r>
              <a:rPr lang="en-US" sz="2100" b="1" dirty="0">
                <a:solidFill>
                  <a:srgbClr val="16324F"/>
                </a:solidFill>
              </a:rPr>
              <a:t>95,6%</a:t>
            </a:r>
            <a:endParaRPr lang="en-US" sz="2100" dirty="0"/>
          </a:p>
        </p:txBody>
      </p:sp>
      <p:sp>
        <p:nvSpPr>
          <p:cNvPr id="20" name="Text 17"/>
          <p:cNvSpPr/>
          <p:nvPr/>
        </p:nvSpPr>
        <p:spPr>
          <a:xfrm>
            <a:off x="9418320" y="3630168"/>
            <a:ext cx="1819656" cy="384048"/>
          </a:xfrm>
          <a:prstGeom prst="rect">
            <a:avLst/>
          </a:prstGeom>
          <a:noFill/>
          <a:ln/>
        </p:spPr>
        <p:txBody>
          <a:bodyPr wrap="square" lIns="254" tIns="254" rIns="254" bIns="254" rtlCol="0" anchor="t">
            <a:normAutofit/>
          </a:bodyPr>
          <a:lstStyle/>
          <a:p>
            <a:pPr indent="0" marL="0">
              <a:buNone/>
            </a:pPr>
            <a:r>
              <a:rPr lang="en-US" sz="990" dirty="0">
                <a:solidFill>
                  <a:srgbClr val="1F2A35"/>
                </a:solidFill>
              </a:rPr>
              <a:t>En una pareja progresor/no progresor, el progresor recibe mayor score ~95,6% de las veces.</a:t>
            </a:r>
            <a:endParaRPr lang="en-US" sz="990" dirty="0"/>
          </a:p>
        </p:txBody>
      </p:sp>
      <p:sp>
        <p:nvSpPr>
          <p:cNvPr id="21" name="Shape 18"/>
          <p:cNvSpPr/>
          <p:nvPr/>
        </p:nvSpPr>
        <p:spPr>
          <a:xfrm>
            <a:off x="6876288" y="4443984"/>
            <a:ext cx="4526280" cy="1051560"/>
          </a:xfrm>
          <a:prstGeom prst="roundRect">
            <a:avLst>
              <a:gd name="adj" fmla="val 5217"/>
            </a:avLst>
          </a:prstGeom>
          <a:solidFill>
            <a:srgbClr val="EEF4F8"/>
          </a:solidFill>
          <a:ln w="12700">
            <a:solidFill>
              <a:srgbClr val="D5E2EB"/>
            </a:solidFill>
            <a:prstDash val="solid"/>
          </a:ln>
        </p:spPr>
      </p:sp>
      <p:sp>
        <p:nvSpPr>
          <p:cNvPr id="22" name="Text 19"/>
          <p:cNvSpPr/>
          <p:nvPr/>
        </p:nvSpPr>
        <p:spPr>
          <a:xfrm>
            <a:off x="7086600" y="4636008"/>
            <a:ext cx="1097280" cy="201168"/>
          </a:xfrm>
          <a:prstGeom prst="rect">
            <a:avLst/>
          </a:prstGeom>
          <a:noFill/>
          <a:ln/>
        </p:spPr>
        <p:txBody>
          <a:bodyPr wrap="square" lIns="0" tIns="0" rIns="0" bIns="0" rtlCol="0" anchor="ctr"/>
          <a:lstStyle/>
          <a:p>
            <a:pPr indent="0" marL="0">
              <a:buNone/>
            </a:pPr>
            <a:r>
              <a:rPr lang="en-US" sz="1100" b="1" dirty="0">
                <a:solidFill>
                  <a:srgbClr val="2F6EA5"/>
                </a:solidFill>
              </a:rPr>
              <a:t>Importante</a:t>
            </a:r>
            <a:endParaRPr lang="en-US" sz="1100" dirty="0"/>
          </a:p>
        </p:txBody>
      </p:sp>
      <p:sp>
        <p:nvSpPr>
          <p:cNvPr id="23" name="Text 20"/>
          <p:cNvSpPr/>
          <p:nvPr/>
        </p:nvSpPr>
        <p:spPr>
          <a:xfrm>
            <a:off x="7086600" y="4882896"/>
            <a:ext cx="3977640" cy="384048"/>
          </a:xfrm>
          <a:prstGeom prst="rect">
            <a:avLst/>
          </a:prstGeom>
          <a:noFill/>
          <a:ln/>
        </p:spPr>
        <p:txBody>
          <a:bodyPr wrap="square" lIns="0" tIns="0" rIns="0" bIns="0" rtlCol="0" anchor="ctr">
            <a:normAutofit/>
          </a:bodyPr>
          <a:lstStyle/>
          <a:p>
            <a:pPr indent="0" marL="0">
              <a:buNone/>
            </a:pPr>
            <a:r>
              <a:rPr lang="en-US" sz="1070" dirty="0">
                <a:solidFill>
                  <a:srgbClr val="1F2A35"/>
                </a:solidFill>
              </a:rPr>
              <a:t>Un AUC de 0,956 NO significa 95,6% de “accuracy”. Mide capacidad de discriminación/ranking.</a:t>
            </a:r>
            <a:endParaRPr lang="en-US" sz="1070" dirty="0"/>
          </a:p>
        </p:txBody>
      </p:sp>
      <p:sp>
        <p:nvSpPr>
          <p:cNvPr id="24" name="Shape 21"/>
          <p:cNvSpPr/>
          <p:nvPr/>
        </p:nvSpPr>
        <p:spPr>
          <a:xfrm>
            <a:off x="585216" y="5897880"/>
            <a:ext cx="11018520" cy="457200"/>
          </a:xfrm>
          <a:prstGeom prst="roundRect">
            <a:avLst>
              <a:gd name="adj" fmla="val 16000"/>
            </a:avLst>
          </a:prstGeom>
          <a:solidFill>
            <a:srgbClr val="EAF1F7"/>
          </a:solidFill>
          <a:ln w="12700">
            <a:solidFill>
              <a:srgbClr val="D5E1EB"/>
            </a:solidFill>
            <a:prstDash val="solid"/>
          </a:ln>
        </p:spPr>
      </p:sp>
      <p:sp>
        <p:nvSpPr>
          <p:cNvPr id="25" name="Text 22"/>
          <p:cNvSpPr/>
          <p:nvPr/>
        </p:nvSpPr>
        <p:spPr>
          <a:xfrm>
            <a:off x="749808" y="6007608"/>
            <a:ext cx="10689336" cy="210312"/>
          </a:xfrm>
          <a:prstGeom prst="rect">
            <a:avLst/>
          </a:prstGeom>
          <a:noFill/>
          <a:ln/>
        </p:spPr>
        <p:txBody>
          <a:bodyPr wrap="square" lIns="0" tIns="0" rIns="0" bIns="0" rtlCol="0" anchor="ctr"/>
          <a:lstStyle/>
          <a:p>
            <a:pPr indent="0" marL="0">
              <a:buNone/>
            </a:pPr>
            <a:r>
              <a:rPr lang="en-US" sz="1150" b="1" dirty="0">
                <a:solidFill>
                  <a:srgbClr val="16324F"/>
                </a:solidFill>
              </a:rPr>
              <a:t>Idea clave · las tres métricas responden a preguntas diferentes; por eso no tienen por qué tener el mismo valor.</a:t>
            </a:r>
            <a:endParaRPr lang="en-US" sz="1150" dirty="0"/>
          </a:p>
        </p:txBody>
      </p:sp>
      <p:sp>
        <p:nvSpPr>
          <p:cNvPr id="25" name="Slide Number Placeholder 0"/>
          <p:cNvSpPr>
            <a:spLocks noGrp="1"/>
          </p:cNvSpPr>
          <p:nvPr>
            <p:ph type="sldNum" sz="quarter" idx="4294967295"/>
          </p:nvPr>
        </p:nvSpPr>
        <p:spPr>
          <a:xfrm>
            <a:off x="11384280" y="6473952"/>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6A2"/>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47472"/>
            <a:ext cx="8046720" cy="438912"/>
          </a:xfrm>
          <a:prstGeom prst="rect">
            <a:avLst/>
          </a:prstGeom>
          <a:noFill/>
          <a:ln/>
        </p:spPr>
        <p:txBody>
          <a:bodyPr wrap="square" lIns="0" tIns="0" rIns="0" bIns="0" rtlCol="0" anchor="ctr"/>
          <a:lstStyle/>
          <a:p>
            <a:pPr indent="0" marL="0">
              <a:buNone/>
            </a:pPr>
            <a:r>
              <a:rPr lang="en-US" sz="2600" b="1" dirty="0">
                <a:solidFill>
                  <a:srgbClr val="16324F"/>
                </a:solidFill>
                <a:latin typeface="Aptos Display" pitchFamily="34" charset="0"/>
                <a:ea typeface="Aptos Display" pitchFamily="34" charset="-122"/>
                <a:cs typeface="Aptos Display" pitchFamily="34" charset="-120"/>
              </a:rPr>
              <a:t>7. De una probabilidad a grupos de riesgo</a:t>
            </a:r>
            <a:endParaRPr lang="en-US" sz="2600" dirty="0"/>
          </a:p>
        </p:txBody>
      </p:sp>
      <p:sp>
        <p:nvSpPr>
          <p:cNvPr id="3" name="Text 1"/>
          <p:cNvSpPr/>
          <p:nvPr/>
        </p:nvSpPr>
        <p:spPr>
          <a:xfrm>
            <a:off x="585216" y="841248"/>
            <a:ext cx="10789920" cy="329184"/>
          </a:xfrm>
          <a:prstGeom prst="rect">
            <a:avLst/>
          </a:prstGeom>
          <a:noFill/>
          <a:ln/>
        </p:spPr>
        <p:txBody>
          <a:bodyPr wrap="square" lIns="0" tIns="0" rIns="0" bIns="0" rtlCol="0" anchor="ctr"/>
          <a:lstStyle/>
          <a:p>
            <a:pPr indent="0" marL="0">
              <a:buNone/>
            </a:pPr>
            <a:r>
              <a:rPr lang="en-US" sz="1250" dirty="0">
                <a:solidFill>
                  <a:srgbClr val="687582"/>
                </a:solidFill>
              </a:rPr>
              <a:t>Los umbrales se eligieron sobre las predicciones out-of-fold, no a ojo.</a:t>
            </a:r>
            <a:endParaRPr lang="en-US" sz="1250" dirty="0"/>
          </a:p>
        </p:txBody>
      </p:sp>
      <p:pic>
        <p:nvPicPr>
          <p:cNvPr id="4" name="Image 0" descr="/mnt/data/metodologia_risk_groups.png">    </p:cNvPr>
          <p:cNvPicPr>
            <a:picLocks noChangeAspect="1"/>
          </p:cNvPicPr>
          <p:nvPr/>
        </p:nvPicPr>
        <p:blipFill>
          <a:blip r:embed="rId1"/>
          <a:stretch>
            <a:fillRect/>
          </a:stretch>
        </p:blipFill>
        <p:spPr>
          <a:xfrm>
            <a:off x="658368" y="1298448"/>
            <a:ext cx="5715000" cy="4251960"/>
          </a:xfrm>
          <a:prstGeom prst="rect">
            <a:avLst/>
          </a:prstGeom>
        </p:spPr>
      </p:pic>
      <p:sp>
        <p:nvSpPr>
          <p:cNvPr id="5" name="Shape 2"/>
          <p:cNvSpPr/>
          <p:nvPr/>
        </p:nvSpPr>
        <p:spPr>
          <a:xfrm>
            <a:off x="6766560" y="1353312"/>
            <a:ext cx="4572000" cy="1188720"/>
          </a:xfrm>
          <a:prstGeom prst="roundRect">
            <a:avLst>
              <a:gd name="adj" fmla="val 6154"/>
            </a:avLst>
          </a:prstGeom>
          <a:solidFill>
            <a:srgbClr val="EDF7F3"/>
          </a:solidFill>
          <a:ln w="12700">
            <a:solidFill>
              <a:srgbClr val="CAE1D7"/>
            </a:solidFill>
            <a:prstDash val="solid"/>
          </a:ln>
        </p:spPr>
      </p:sp>
      <p:sp>
        <p:nvSpPr>
          <p:cNvPr id="6" name="Text 3"/>
          <p:cNvSpPr/>
          <p:nvPr/>
        </p:nvSpPr>
        <p:spPr>
          <a:xfrm>
            <a:off x="6931152" y="1481328"/>
            <a:ext cx="4242816" cy="164592"/>
          </a:xfrm>
          <a:prstGeom prst="rect">
            <a:avLst/>
          </a:prstGeom>
          <a:noFill/>
          <a:ln/>
        </p:spPr>
        <p:txBody>
          <a:bodyPr wrap="square" lIns="0" tIns="0" rIns="0" bIns="0" rtlCol="0" anchor="ctr"/>
          <a:lstStyle/>
          <a:p>
            <a:pPr indent="0" marL="0">
              <a:buNone/>
            </a:pPr>
            <a:r>
              <a:rPr lang="en-US" sz="900" b="1" dirty="0">
                <a:solidFill>
                  <a:srgbClr val="687582"/>
                </a:solidFill>
              </a:rPr>
              <a:t>UMBRAL 1</a:t>
            </a:r>
            <a:endParaRPr lang="en-US" sz="900" dirty="0"/>
          </a:p>
        </p:txBody>
      </p:sp>
      <p:sp>
        <p:nvSpPr>
          <p:cNvPr id="7" name="Text 4"/>
          <p:cNvSpPr/>
          <p:nvPr/>
        </p:nvSpPr>
        <p:spPr>
          <a:xfrm>
            <a:off x="6931152" y="1709928"/>
            <a:ext cx="4242816" cy="292608"/>
          </a:xfrm>
          <a:prstGeom prst="rect">
            <a:avLst/>
          </a:prstGeom>
          <a:noFill/>
          <a:ln/>
        </p:spPr>
        <p:txBody>
          <a:bodyPr wrap="square" lIns="0" tIns="0" rIns="0" bIns="0" rtlCol="0" anchor="ctr"/>
          <a:lstStyle/>
          <a:p>
            <a:pPr indent="0" marL="0">
              <a:buNone/>
            </a:pPr>
            <a:r>
              <a:rPr lang="en-US" sz="1600" b="1" dirty="0">
                <a:solidFill>
                  <a:srgbClr val="16324F"/>
                </a:solidFill>
              </a:rPr>
              <a:t>Bajo riesgo: p &lt; 0,279</a:t>
            </a:r>
            <a:endParaRPr lang="en-US" sz="1600" dirty="0"/>
          </a:p>
        </p:txBody>
      </p:sp>
      <p:sp>
        <p:nvSpPr>
          <p:cNvPr id="8" name="Text 5"/>
          <p:cNvSpPr/>
          <p:nvPr/>
        </p:nvSpPr>
        <p:spPr>
          <a:xfrm>
            <a:off x="6931152" y="2103120"/>
            <a:ext cx="4242816" cy="329184"/>
          </a:xfrm>
          <a:prstGeom prst="rect">
            <a:avLst/>
          </a:prstGeom>
          <a:noFill/>
          <a:ln/>
        </p:spPr>
        <p:txBody>
          <a:bodyPr wrap="square" lIns="254" tIns="254" rIns="254" bIns="254" rtlCol="0" anchor="t">
            <a:normAutofit/>
          </a:bodyPr>
          <a:lstStyle/>
          <a:p>
            <a:pPr indent="0" marL="0">
              <a:buNone/>
            </a:pPr>
            <a:r>
              <a:rPr lang="en-US" sz="1080" dirty="0">
                <a:solidFill>
                  <a:srgbClr val="1F2A35"/>
                </a:solidFill>
              </a:rPr>
              <a:t>Elegimos un punto con sensibilidad ≥95% y, entre ellos, la mayor especificidad.</a:t>
            </a:r>
            <a:endParaRPr lang="en-US" sz="1080" dirty="0"/>
          </a:p>
        </p:txBody>
      </p:sp>
      <p:sp>
        <p:nvSpPr>
          <p:cNvPr id="9" name="Shape 6"/>
          <p:cNvSpPr/>
          <p:nvPr/>
        </p:nvSpPr>
        <p:spPr>
          <a:xfrm>
            <a:off x="6766560" y="2816352"/>
            <a:ext cx="4572000" cy="1188720"/>
          </a:xfrm>
          <a:prstGeom prst="roundRect">
            <a:avLst>
              <a:gd name="adj" fmla="val 6154"/>
            </a:avLst>
          </a:prstGeom>
          <a:solidFill>
            <a:srgbClr val="FBF5E8"/>
          </a:solidFill>
          <a:ln w="12700">
            <a:solidFill>
              <a:srgbClr val="E9D9B5"/>
            </a:solidFill>
            <a:prstDash val="solid"/>
          </a:ln>
        </p:spPr>
      </p:sp>
      <p:sp>
        <p:nvSpPr>
          <p:cNvPr id="10" name="Text 7"/>
          <p:cNvSpPr/>
          <p:nvPr/>
        </p:nvSpPr>
        <p:spPr>
          <a:xfrm>
            <a:off x="6931152" y="2944368"/>
            <a:ext cx="4242816" cy="164592"/>
          </a:xfrm>
          <a:prstGeom prst="rect">
            <a:avLst/>
          </a:prstGeom>
          <a:noFill/>
          <a:ln/>
        </p:spPr>
        <p:txBody>
          <a:bodyPr wrap="square" lIns="0" tIns="0" rIns="0" bIns="0" rtlCol="0" anchor="ctr"/>
          <a:lstStyle/>
          <a:p>
            <a:pPr indent="0" marL="0">
              <a:buNone/>
            </a:pPr>
            <a:r>
              <a:rPr lang="en-US" sz="900" b="1" dirty="0">
                <a:solidFill>
                  <a:srgbClr val="687582"/>
                </a:solidFill>
              </a:rPr>
              <a:t>ZONA INTERMEDIA</a:t>
            </a:r>
            <a:endParaRPr lang="en-US" sz="900" dirty="0"/>
          </a:p>
        </p:txBody>
      </p:sp>
      <p:sp>
        <p:nvSpPr>
          <p:cNvPr id="11" name="Text 8"/>
          <p:cNvSpPr/>
          <p:nvPr/>
        </p:nvSpPr>
        <p:spPr>
          <a:xfrm>
            <a:off x="6931152" y="3172968"/>
            <a:ext cx="4242816" cy="292608"/>
          </a:xfrm>
          <a:prstGeom prst="rect">
            <a:avLst/>
          </a:prstGeom>
          <a:noFill/>
          <a:ln/>
        </p:spPr>
        <p:txBody>
          <a:bodyPr wrap="square" lIns="0" tIns="0" rIns="0" bIns="0" rtlCol="0" anchor="ctr"/>
          <a:lstStyle/>
          <a:p>
            <a:pPr indent="0" marL="0">
              <a:buNone/>
            </a:pPr>
            <a:r>
              <a:rPr lang="en-US" sz="1600" b="1" dirty="0">
                <a:solidFill>
                  <a:srgbClr val="16324F"/>
                </a:solidFill>
              </a:rPr>
              <a:t>Intermedio: 0,279 ≤ p &lt; 0,481</a:t>
            </a:r>
            <a:endParaRPr lang="en-US" sz="1600" dirty="0"/>
          </a:p>
        </p:txBody>
      </p:sp>
      <p:sp>
        <p:nvSpPr>
          <p:cNvPr id="12" name="Text 9"/>
          <p:cNvSpPr/>
          <p:nvPr/>
        </p:nvSpPr>
        <p:spPr>
          <a:xfrm>
            <a:off x="6931152" y="3566160"/>
            <a:ext cx="4242816" cy="329184"/>
          </a:xfrm>
          <a:prstGeom prst="rect">
            <a:avLst/>
          </a:prstGeom>
          <a:noFill/>
          <a:ln/>
        </p:spPr>
        <p:txBody>
          <a:bodyPr wrap="square" lIns="254" tIns="254" rIns="254" bIns="254" rtlCol="0" anchor="t">
            <a:normAutofit/>
          </a:bodyPr>
          <a:lstStyle/>
          <a:p>
            <a:pPr indent="0" marL="0">
              <a:buNone/>
            </a:pPr>
            <a:r>
              <a:rPr lang="en-US" sz="1080" dirty="0">
                <a:solidFill>
                  <a:srgbClr val="1F2A35"/>
                </a:solidFill>
              </a:rPr>
              <a:t>Zona de incertidumbre entre los dos umbrales de desarrollo.</a:t>
            </a:r>
            <a:endParaRPr lang="en-US" sz="1080" dirty="0"/>
          </a:p>
        </p:txBody>
      </p:sp>
      <p:sp>
        <p:nvSpPr>
          <p:cNvPr id="13" name="Shape 10"/>
          <p:cNvSpPr/>
          <p:nvPr/>
        </p:nvSpPr>
        <p:spPr>
          <a:xfrm>
            <a:off x="6766560" y="4279392"/>
            <a:ext cx="4572000" cy="1188720"/>
          </a:xfrm>
          <a:prstGeom prst="roundRect">
            <a:avLst>
              <a:gd name="adj" fmla="val 6154"/>
            </a:avLst>
          </a:prstGeom>
          <a:solidFill>
            <a:srgbClr val="FAEEEE"/>
          </a:solidFill>
          <a:ln w="12700">
            <a:solidFill>
              <a:srgbClr val="E7C6C6"/>
            </a:solidFill>
            <a:prstDash val="solid"/>
          </a:ln>
        </p:spPr>
      </p:sp>
      <p:sp>
        <p:nvSpPr>
          <p:cNvPr id="14" name="Text 11"/>
          <p:cNvSpPr/>
          <p:nvPr/>
        </p:nvSpPr>
        <p:spPr>
          <a:xfrm>
            <a:off x="6931152" y="4407408"/>
            <a:ext cx="4242816" cy="164592"/>
          </a:xfrm>
          <a:prstGeom prst="rect">
            <a:avLst/>
          </a:prstGeom>
          <a:noFill/>
          <a:ln/>
        </p:spPr>
        <p:txBody>
          <a:bodyPr wrap="square" lIns="0" tIns="0" rIns="0" bIns="0" rtlCol="0" anchor="ctr"/>
          <a:lstStyle/>
          <a:p>
            <a:pPr indent="0" marL="0">
              <a:buNone/>
            </a:pPr>
            <a:r>
              <a:rPr lang="en-US" sz="900" b="1" dirty="0">
                <a:solidFill>
                  <a:srgbClr val="687582"/>
                </a:solidFill>
              </a:rPr>
              <a:t>UMBRAL 2</a:t>
            </a:r>
            <a:endParaRPr lang="en-US" sz="900" dirty="0"/>
          </a:p>
        </p:txBody>
      </p:sp>
      <p:sp>
        <p:nvSpPr>
          <p:cNvPr id="15" name="Text 12"/>
          <p:cNvSpPr/>
          <p:nvPr/>
        </p:nvSpPr>
        <p:spPr>
          <a:xfrm>
            <a:off x="6931152" y="4636008"/>
            <a:ext cx="4242816" cy="292608"/>
          </a:xfrm>
          <a:prstGeom prst="rect">
            <a:avLst/>
          </a:prstGeom>
          <a:noFill/>
          <a:ln/>
        </p:spPr>
        <p:txBody>
          <a:bodyPr wrap="square" lIns="0" tIns="0" rIns="0" bIns="0" rtlCol="0" anchor="ctr"/>
          <a:lstStyle/>
          <a:p>
            <a:pPr indent="0" marL="0">
              <a:buNone/>
            </a:pPr>
            <a:r>
              <a:rPr lang="en-US" sz="1600" b="1" dirty="0">
                <a:solidFill>
                  <a:srgbClr val="16324F"/>
                </a:solidFill>
              </a:rPr>
              <a:t>Alto riesgo: p ≥ 0,481</a:t>
            </a:r>
            <a:endParaRPr lang="en-US" sz="1600" dirty="0"/>
          </a:p>
        </p:txBody>
      </p:sp>
      <p:sp>
        <p:nvSpPr>
          <p:cNvPr id="16" name="Text 13"/>
          <p:cNvSpPr/>
          <p:nvPr/>
        </p:nvSpPr>
        <p:spPr>
          <a:xfrm>
            <a:off x="6931152" y="5029200"/>
            <a:ext cx="4242816" cy="329184"/>
          </a:xfrm>
          <a:prstGeom prst="rect">
            <a:avLst/>
          </a:prstGeom>
          <a:noFill/>
          <a:ln/>
        </p:spPr>
        <p:txBody>
          <a:bodyPr wrap="square" lIns="254" tIns="254" rIns="254" bIns="254" rtlCol="0" anchor="t">
            <a:normAutofit/>
          </a:bodyPr>
          <a:lstStyle/>
          <a:p>
            <a:pPr indent="0" marL="0">
              <a:buNone/>
            </a:pPr>
            <a:r>
              <a:rPr lang="en-US" sz="1080" dirty="0">
                <a:solidFill>
                  <a:srgbClr val="1F2A35"/>
                </a:solidFill>
              </a:rPr>
              <a:t>Elegimos un punto con especificidad ≥90% y, entre ellos, la mayor sensibilidad.</a:t>
            </a:r>
            <a:endParaRPr lang="en-US" sz="1080" dirty="0"/>
          </a:p>
        </p:txBody>
      </p:sp>
      <p:sp>
        <p:nvSpPr>
          <p:cNvPr id="17" name="Shape 14"/>
          <p:cNvSpPr/>
          <p:nvPr/>
        </p:nvSpPr>
        <p:spPr>
          <a:xfrm>
            <a:off x="585216" y="5897880"/>
            <a:ext cx="11018520" cy="457200"/>
          </a:xfrm>
          <a:prstGeom prst="roundRect">
            <a:avLst>
              <a:gd name="adj" fmla="val 16000"/>
            </a:avLst>
          </a:prstGeom>
          <a:solidFill>
            <a:srgbClr val="EAF1F7"/>
          </a:solidFill>
          <a:ln w="12700">
            <a:solidFill>
              <a:srgbClr val="D5E1EB"/>
            </a:solidFill>
            <a:prstDash val="solid"/>
          </a:ln>
        </p:spPr>
      </p:sp>
      <p:sp>
        <p:nvSpPr>
          <p:cNvPr id="18" name="Text 15"/>
          <p:cNvSpPr/>
          <p:nvPr/>
        </p:nvSpPr>
        <p:spPr>
          <a:xfrm>
            <a:off x="749808" y="6007608"/>
            <a:ext cx="10689336" cy="210312"/>
          </a:xfrm>
          <a:prstGeom prst="rect">
            <a:avLst/>
          </a:prstGeom>
          <a:noFill/>
          <a:ln/>
        </p:spPr>
        <p:txBody>
          <a:bodyPr wrap="square" lIns="0" tIns="0" rIns="0" bIns="0" rtlCol="0" anchor="ctr"/>
          <a:lstStyle/>
          <a:p>
            <a:pPr indent="0" marL="0">
              <a:buNone/>
            </a:pPr>
            <a:r>
              <a:rPr lang="en-US" sz="1150" b="1" dirty="0">
                <a:solidFill>
                  <a:srgbClr val="16324F"/>
                </a:solidFill>
              </a:rPr>
              <a:t>Idea clave · en la cohorte de desarrollo, la progresión observada fue 4,8% / 39,0% / 88,6%; son tasas internas, no universales.</a:t>
            </a:r>
            <a:endParaRPr lang="en-US" sz="1150" dirty="0"/>
          </a:p>
        </p:txBody>
      </p:sp>
      <p:sp>
        <p:nvSpPr>
          <p:cNvPr id="25" name="Slide Number Placeholder 0"/>
          <p:cNvSpPr>
            <a:spLocks noGrp="1"/>
          </p:cNvSpPr>
          <p:nvPr>
            <p:ph type="sldNum" sz="quarter" idx="4294967295"/>
          </p:nvPr>
        </p:nvSpPr>
        <p:spPr>
          <a:xfrm>
            <a:off x="11384280" y="6473952"/>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6A2"/>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47472"/>
            <a:ext cx="8046720" cy="438912"/>
          </a:xfrm>
          <a:prstGeom prst="rect">
            <a:avLst/>
          </a:prstGeom>
          <a:noFill/>
          <a:ln/>
        </p:spPr>
        <p:txBody>
          <a:bodyPr wrap="square" lIns="0" tIns="0" rIns="0" bIns="0" rtlCol="0" anchor="ctr"/>
          <a:lstStyle/>
          <a:p>
            <a:pPr indent="0" marL="0">
              <a:buNone/>
            </a:pPr>
            <a:r>
              <a:rPr lang="en-US" sz="2600" b="1" dirty="0">
                <a:solidFill>
                  <a:srgbClr val="16324F"/>
                </a:solidFill>
                <a:latin typeface="Aptos Display" pitchFamily="34" charset="0"/>
                <a:ea typeface="Aptos Display" pitchFamily="34" charset="-122"/>
                <a:cs typeface="Aptos Display" pitchFamily="34" charset="-120"/>
              </a:rPr>
              <a:t>8. Del modelo validado al prototipo ILA Compass</a:t>
            </a:r>
            <a:endParaRPr lang="en-US" sz="2600" dirty="0"/>
          </a:p>
        </p:txBody>
      </p:sp>
      <p:sp>
        <p:nvSpPr>
          <p:cNvPr id="3" name="Text 1"/>
          <p:cNvSpPr/>
          <p:nvPr/>
        </p:nvSpPr>
        <p:spPr>
          <a:xfrm>
            <a:off x="585216" y="841248"/>
            <a:ext cx="10789920" cy="329184"/>
          </a:xfrm>
          <a:prstGeom prst="rect">
            <a:avLst/>
          </a:prstGeom>
          <a:noFill/>
          <a:ln/>
        </p:spPr>
        <p:txBody>
          <a:bodyPr wrap="square" lIns="0" tIns="0" rIns="0" bIns="0" rtlCol="0" anchor="ctr"/>
          <a:lstStyle/>
          <a:p>
            <a:pPr indent="0" marL="0">
              <a:buNone/>
            </a:pPr>
            <a:r>
              <a:rPr lang="en-US" sz="1250" dirty="0">
                <a:solidFill>
                  <a:srgbClr val="687582"/>
                </a:solidFill>
              </a:rPr>
              <a:t>Separamos claramente la evaluación del modelo final que usa la calculadora.</a:t>
            </a:r>
            <a:endParaRPr lang="en-US" sz="1250" dirty="0"/>
          </a:p>
        </p:txBody>
      </p:sp>
      <p:sp>
        <p:nvSpPr>
          <p:cNvPr id="4" name="Shape 2"/>
          <p:cNvSpPr/>
          <p:nvPr/>
        </p:nvSpPr>
        <p:spPr>
          <a:xfrm>
            <a:off x="658368" y="1325880"/>
            <a:ext cx="2834640" cy="1325880"/>
          </a:xfrm>
          <a:prstGeom prst="roundRect">
            <a:avLst>
              <a:gd name="adj" fmla="val 5517"/>
            </a:avLst>
          </a:prstGeom>
          <a:solidFill>
            <a:srgbClr val="FFFFFF"/>
          </a:solidFill>
          <a:ln w="12700">
            <a:solidFill>
              <a:srgbClr val="DCE3E8"/>
            </a:solidFill>
            <a:prstDash val="solid"/>
          </a:ln>
        </p:spPr>
      </p:sp>
      <p:sp>
        <p:nvSpPr>
          <p:cNvPr id="5" name="Text 3"/>
          <p:cNvSpPr/>
          <p:nvPr/>
        </p:nvSpPr>
        <p:spPr>
          <a:xfrm>
            <a:off x="822960" y="1453896"/>
            <a:ext cx="2505456" cy="164592"/>
          </a:xfrm>
          <a:prstGeom prst="rect">
            <a:avLst/>
          </a:prstGeom>
          <a:noFill/>
          <a:ln/>
        </p:spPr>
        <p:txBody>
          <a:bodyPr wrap="square" lIns="0" tIns="0" rIns="0" bIns="0" rtlCol="0" anchor="ctr"/>
          <a:lstStyle/>
          <a:p>
            <a:pPr indent="0" marL="0">
              <a:buNone/>
            </a:pPr>
            <a:r>
              <a:rPr lang="en-US" sz="900" b="1" dirty="0">
                <a:solidFill>
                  <a:srgbClr val="687582"/>
                </a:solidFill>
              </a:rPr>
              <a:t>EVALUACIÓN</a:t>
            </a:r>
            <a:endParaRPr lang="en-US" sz="900" dirty="0"/>
          </a:p>
        </p:txBody>
      </p:sp>
      <p:sp>
        <p:nvSpPr>
          <p:cNvPr id="6" name="Text 4"/>
          <p:cNvSpPr/>
          <p:nvPr/>
        </p:nvSpPr>
        <p:spPr>
          <a:xfrm>
            <a:off x="822960" y="1682496"/>
            <a:ext cx="2505456" cy="292608"/>
          </a:xfrm>
          <a:prstGeom prst="rect">
            <a:avLst/>
          </a:prstGeom>
          <a:noFill/>
          <a:ln/>
        </p:spPr>
        <p:txBody>
          <a:bodyPr wrap="square" lIns="0" tIns="0" rIns="0" bIns="0" rtlCol="0" anchor="ctr"/>
          <a:lstStyle/>
          <a:p>
            <a:pPr indent="0" marL="0">
              <a:buNone/>
            </a:pPr>
            <a:r>
              <a:rPr lang="en-US" sz="1600" b="1" dirty="0">
                <a:solidFill>
                  <a:srgbClr val="16324F"/>
                </a:solidFill>
              </a:rPr>
              <a:t>Validación interna</a:t>
            </a:r>
            <a:endParaRPr lang="en-US" sz="1600" dirty="0"/>
          </a:p>
        </p:txBody>
      </p:sp>
      <p:sp>
        <p:nvSpPr>
          <p:cNvPr id="7" name="Text 5"/>
          <p:cNvSpPr/>
          <p:nvPr/>
        </p:nvSpPr>
        <p:spPr>
          <a:xfrm>
            <a:off x="822960" y="2075688"/>
            <a:ext cx="2505456" cy="466344"/>
          </a:xfrm>
          <a:prstGeom prst="rect">
            <a:avLst/>
          </a:prstGeom>
          <a:noFill/>
          <a:ln/>
        </p:spPr>
        <p:txBody>
          <a:bodyPr wrap="square" lIns="254" tIns="254" rIns="254" bIns="254" rtlCol="0" anchor="t">
            <a:normAutofit/>
          </a:bodyPr>
          <a:lstStyle/>
          <a:p>
            <a:pPr indent="0" marL="0">
              <a:buNone/>
            </a:pPr>
            <a:r>
              <a:rPr lang="en-US" sz="1100" dirty="0">
                <a:solidFill>
                  <a:srgbClr val="1F2A35"/>
                </a:solidFill>
              </a:rPr>
              <a:t>5-fold CV</a:t>
            </a:r>
            <a:endParaRPr lang="en-US" sz="1100" dirty="0"/>
          </a:p>
          <a:p>
            <a:pPr indent="0" marL="0">
              <a:buNone/>
            </a:pPr>
            <a:r>
              <a:rPr lang="en-US" sz="1100" dirty="0">
                <a:solidFill>
                  <a:srgbClr val="1F2A35"/>
                </a:solidFill>
              </a:rPr>
              <a:t>650 predicciones out-of-fold</a:t>
            </a:r>
            <a:endParaRPr lang="en-US" sz="1100" dirty="0"/>
          </a:p>
          <a:p>
            <a:pPr indent="0" marL="0">
              <a:buNone/>
            </a:pPr>
            <a:r>
              <a:rPr lang="en-US" sz="1100" dirty="0">
                <a:solidFill>
                  <a:srgbClr val="1F2A35"/>
                </a:solidFill>
              </a:rPr>
              <a:t>→ métricas reportadas</a:t>
            </a:r>
            <a:endParaRPr lang="en-US" sz="1100" dirty="0"/>
          </a:p>
        </p:txBody>
      </p:sp>
      <p:sp>
        <p:nvSpPr>
          <p:cNvPr id="8" name="Shape 6"/>
          <p:cNvSpPr/>
          <p:nvPr/>
        </p:nvSpPr>
        <p:spPr>
          <a:xfrm>
            <a:off x="3593592" y="1984248"/>
            <a:ext cx="566928" cy="0"/>
          </a:xfrm>
          <a:prstGeom prst="line">
            <a:avLst/>
          </a:prstGeom>
          <a:noFill/>
          <a:ln w="22860">
            <a:solidFill>
              <a:srgbClr val="2F6EA5"/>
            </a:solidFill>
            <a:prstDash val="solid"/>
            <a:headEnd type="none"/>
            <a:tailEnd type="triangle"/>
          </a:ln>
        </p:spPr>
      </p:sp>
      <p:sp>
        <p:nvSpPr>
          <p:cNvPr id="9" name="Shape 7"/>
          <p:cNvSpPr/>
          <p:nvPr/>
        </p:nvSpPr>
        <p:spPr>
          <a:xfrm>
            <a:off x="4270248" y="1325880"/>
            <a:ext cx="3017520" cy="1325880"/>
          </a:xfrm>
          <a:prstGeom prst="roundRect">
            <a:avLst>
              <a:gd name="adj" fmla="val 5517"/>
            </a:avLst>
          </a:prstGeom>
          <a:solidFill>
            <a:srgbClr val="EEF4F8"/>
          </a:solidFill>
          <a:ln w="12700">
            <a:solidFill>
              <a:srgbClr val="CFDDE8"/>
            </a:solidFill>
            <a:prstDash val="solid"/>
          </a:ln>
        </p:spPr>
      </p:sp>
      <p:sp>
        <p:nvSpPr>
          <p:cNvPr id="10" name="Text 8"/>
          <p:cNvSpPr/>
          <p:nvPr/>
        </p:nvSpPr>
        <p:spPr>
          <a:xfrm>
            <a:off x="4434840" y="1453896"/>
            <a:ext cx="2688336" cy="164592"/>
          </a:xfrm>
          <a:prstGeom prst="rect">
            <a:avLst/>
          </a:prstGeom>
          <a:noFill/>
          <a:ln/>
        </p:spPr>
        <p:txBody>
          <a:bodyPr wrap="square" lIns="0" tIns="0" rIns="0" bIns="0" rtlCol="0" anchor="ctr"/>
          <a:lstStyle/>
          <a:p>
            <a:pPr indent="0" marL="0">
              <a:buNone/>
            </a:pPr>
            <a:r>
              <a:rPr lang="en-US" sz="900" b="1" dirty="0">
                <a:solidFill>
                  <a:srgbClr val="687582"/>
                </a:solidFill>
              </a:rPr>
              <a:t>DESPUÉS DE EVALUAR</a:t>
            </a:r>
            <a:endParaRPr lang="en-US" sz="900" dirty="0"/>
          </a:p>
        </p:txBody>
      </p:sp>
      <p:sp>
        <p:nvSpPr>
          <p:cNvPr id="11" name="Text 9"/>
          <p:cNvSpPr/>
          <p:nvPr/>
        </p:nvSpPr>
        <p:spPr>
          <a:xfrm>
            <a:off x="4434840" y="1682496"/>
            <a:ext cx="2688336" cy="292608"/>
          </a:xfrm>
          <a:prstGeom prst="rect">
            <a:avLst/>
          </a:prstGeom>
          <a:noFill/>
          <a:ln/>
        </p:spPr>
        <p:txBody>
          <a:bodyPr wrap="square" lIns="0" tIns="0" rIns="0" bIns="0" rtlCol="0" anchor="ctr"/>
          <a:lstStyle/>
          <a:p>
            <a:pPr indent="0" marL="0">
              <a:buNone/>
            </a:pPr>
            <a:r>
              <a:rPr lang="en-US" sz="1600" b="1" dirty="0">
                <a:solidFill>
                  <a:srgbClr val="16324F"/>
                </a:solidFill>
              </a:rPr>
              <a:t>Modelo final</a:t>
            </a:r>
            <a:endParaRPr lang="en-US" sz="1600" dirty="0"/>
          </a:p>
        </p:txBody>
      </p:sp>
      <p:sp>
        <p:nvSpPr>
          <p:cNvPr id="12" name="Text 10"/>
          <p:cNvSpPr/>
          <p:nvPr/>
        </p:nvSpPr>
        <p:spPr>
          <a:xfrm>
            <a:off x="4434840" y="2075688"/>
            <a:ext cx="2688336" cy="466344"/>
          </a:xfrm>
          <a:prstGeom prst="rect">
            <a:avLst/>
          </a:prstGeom>
          <a:noFill/>
          <a:ln/>
        </p:spPr>
        <p:txBody>
          <a:bodyPr wrap="square" lIns="254" tIns="254" rIns="254" bIns="254" rtlCol="0" anchor="t">
            <a:normAutofit/>
          </a:bodyPr>
          <a:lstStyle/>
          <a:p>
            <a:pPr indent="0" marL="0">
              <a:buNone/>
            </a:pPr>
            <a:r>
              <a:rPr lang="en-US" sz="1100" dirty="0">
                <a:solidFill>
                  <a:srgbClr val="1F2A35"/>
                </a:solidFill>
              </a:rPr>
              <a:t>Se reajusta con los 650 pacientes</a:t>
            </a:r>
            <a:endParaRPr lang="en-US" sz="1100" dirty="0"/>
          </a:p>
          <a:p>
            <a:pPr indent="0" marL="0">
              <a:buNone/>
            </a:pPr>
            <a:r>
              <a:rPr lang="en-US" sz="1100" dirty="0">
                <a:solidFill>
                  <a:srgbClr val="1F2A35"/>
                </a:solidFill>
              </a:rPr>
              <a:t>→ coeficientes finales</a:t>
            </a:r>
            <a:endParaRPr lang="en-US" sz="1100" dirty="0"/>
          </a:p>
        </p:txBody>
      </p:sp>
      <p:sp>
        <p:nvSpPr>
          <p:cNvPr id="13" name="Shape 11"/>
          <p:cNvSpPr/>
          <p:nvPr/>
        </p:nvSpPr>
        <p:spPr>
          <a:xfrm>
            <a:off x="7388352" y="1984248"/>
            <a:ext cx="566928" cy="0"/>
          </a:xfrm>
          <a:prstGeom prst="line">
            <a:avLst/>
          </a:prstGeom>
          <a:noFill/>
          <a:ln w="22860">
            <a:solidFill>
              <a:srgbClr val="2F6EA5"/>
            </a:solidFill>
            <a:prstDash val="solid"/>
            <a:headEnd type="none"/>
            <a:tailEnd type="triangle"/>
          </a:ln>
        </p:spPr>
      </p:sp>
      <p:sp>
        <p:nvSpPr>
          <p:cNvPr id="14" name="Shape 12"/>
          <p:cNvSpPr/>
          <p:nvPr/>
        </p:nvSpPr>
        <p:spPr>
          <a:xfrm>
            <a:off x="8065008" y="1325880"/>
            <a:ext cx="3474720" cy="1325880"/>
          </a:xfrm>
          <a:prstGeom prst="roundRect">
            <a:avLst>
              <a:gd name="adj" fmla="val 5517"/>
            </a:avLst>
          </a:prstGeom>
          <a:solidFill>
            <a:srgbClr val="FFFFFF"/>
          </a:solidFill>
          <a:ln w="12700">
            <a:solidFill>
              <a:srgbClr val="DCE3E8"/>
            </a:solidFill>
            <a:prstDash val="solid"/>
          </a:ln>
        </p:spPr>
      </p:sp>
      <p:sp>
        <p:nvSpPr>
          <p:cNvPr id="15" name="Text 13"/>
          <p:cNvSpPr/>
          <p:nvPr/>
        </p:nvSpPr>
        <p:spPr>
          <a:xfrm>
            <a:off x="8229600" y="1453896"/>
            <a:ext cx="3145536" cy="164592"/>
          </a:xfrm>
          <a:prstGeom prst="rect">
            <a:avLst/>
          </a:prstGeom>
          <a:noFill/>
          <a:ln/>
        </p:spPr>
        <p:txBody>
          <a:bodyPr wrap="square" lIns="0" tIns="0" rIns="0" bIns="0" rtlCol="0" anchor="ctr"/>
          <a:lstStyle/>
          <a:p>
            <a:pPr indent="0" marL="0">
              <a:buNone/>
            </a:pPr>
            <a:r>
              <a:rPr lang="en-US" sz="900" b="1" dirty="0">
                <a:solidFill>
                  <a:srgbClr val="687582"/>
                </a:solidFill>
              </a:rPr>
              <a:t>PROTOTIPO</a:t>
            </a:r>
            <a:endParaRPr lang="en-US" sz="900" dirty="0"/>
          </a:p>
        </p:txBody>
      </p:sp>
      <p:sp>
        <p:nvSpPr>
          <p:cNvPr id="16" name="Text 14"/>
          <p:cNvSpPr/>
          <p:nvPr/>
        </p:nvSpPr>
        <p:spPr>
          <a:xfrm>
            <a:off x="8229600" y="1682496"/>
            <a:ext cx="3145536" cy="292608"/>
          </a:xfrm>
          <a:prstGeom prst="rect">
            <a:avLst/>
          </a:prstGeom>
          <a:noFill/>
          <a:ln/>
        </p:spPr>
        <p:txBody>
          <a:bodyPr wrap="square" lIns="0" tIns="0" rIns="0" bIns="0" rtlCol="0" anchor="ctr"/>
          <a:lstStyle/>
          <a:p>
            <a:pPr indent="0" marL="0">
              <a:buNone/>
            </a:pPr>
            <a:r>
              <a:rPr lang="en-US" sz="1600" b="1" dirty="0">
                <a:solidFill>
                  <a:srgbClr val="16324F"/>
                </a:solidFill>
              </a:rPr>
              <a:t>ILA Compass</a:t>
            </a:r>
            <a:endParaRPr lang="en-US" sz="1600" dirty="0"/>
          </a:p>
        </p:txBody>
      </p:sp>
      <p:sp>
        <p:nvSpPr>
          <p:cNvPr id="17" name="Text 15"/>
          <p:cNvSpPr/>
          <p:nvPr/>
        </p:nvSpPr>
        <p:spPr>
          <a:xfrm>
            <a:off x="8229600" y="2075688"/>
            <a:ext cx="3145536" cy="466344"/>
          </a:xfrm>
          <a:prstGeom prst="rect">
            <a:avLst/>
          </a:prstGeom>
          <a:noFill/>
          <a:ln/>
        </p:spPr>
        <p:txBody>
          <a:bodyPr wrap="square" lIns="254" tIns="254" rIns="254" bIns="254" rtlCol="0" anchor="t">
            <a:normAutofit/>
          </a:bodyPr>
          <a:lstStyle/>
          <a:p>
            <a:pPr indent="0" marL="0">
              <a:buNone/>
            </a:pPr>
            <a:r>
              <a:rPr lang="en-US" sz="1100" dirty="0">
                <a:solidFill>
                  <a:srgbClr val="1F2A35"/>
                </a:solidFill>
              </a:rPr>
              <a:t>Probabilidad individual</a:t>
            </a:r>
            <a:endParaRPr lang="en-US" sz="1100" dirty="0"/>
          </a:p>
          <a:p>
            <a:pPr indent="0" marL="0">
              <a:buNone/>
            </a:pPr>
            <a:r>
              <a:rPr lang="en-US" sz="1100" dirty="0">
                <a:solidFill>
                  <a:srgbClr val="1F2A35"/>
                </a:solidFill>
              </a:rPr>
              <a:t>Semáforo + drivers + resumen clínico</a:t>
            </a:r>
            <a:endParaRPr lang="en-US" sz="1100" dirty="0"/>
          </a:p>
        </p:txBody>
      </p:sp>
      <p:sp>
        <p:nvSpPr>
          <p:cNvPr id="18" name="Shape 16"/>
          <p:cNvSpPr/>
          <p:nvPr/>
        </p:nvSpPr>
        <p:spPr>
          <a:xfrm>
            <a:off x="658368" y="3063240"/>
            <a:ext cx="5303520" cy="2148840"/>
          </a:xfrm>
          <a:prstGeom prst="roundRect">
            <a:avLst>
              <a:gd name="adj" fmla="val 3404"/>
            </a:avLst>
          </a:prstGeom>
          <a:solidFill>
            <a:srgbClr val="FAEEEE"/>
          </a:solidFill>
          <a:ln w="12700">
            <a:solidFill>
              <a:srgbClr val="E7C6C6"/>
            </a:solidFill>
            <a:prstDash val="solid"/>
          </a:ln>
        </p:spPr>
      </p:sp>
      <p:sp>
        <p:nvSpPr>
          <p:cNvPr id="19" name="Text 17"/>
          <p:cNvSpPr/>
          <p:nvPr/>
        </p:nvSpPr>
        <p:spPr>
          <a:xfrm>
            <a:off x="896112" y="3328416"/>
            <a:ext cx="3474720" cy="274320"/>
          </a:xfrm>
          <a:prstGeom prst="rect">
            <a:avLst/>
          </a:prstGeom>
          <a:noFill/>
          <a:ln/>
        </p:spPr>
        <p:txBody>
          <a:bodyPr wrap="square" lIns="0" tIns="0" rIns="0" bIns="0" rtlCol="0" anchor="ctr"/>
          <a:lstStyle/>
          <a:p>
            <a:pPr indent="0" marL="0">
              <a:buNone/>
            </a:pPr>
            <a:r>
              <a:rPr lang="en-US" sz="1500" b="1" dirty="0">
                <a:solidFill>
                  <a:srgbClr val="B95151"/>
                </a:solidFill>
              </a:rPr>
              <a:t>Qué todavía NO podemos afirmar</a:t>
            </a:r>
            <a:endParaRPr lang="en-US" sz="1500" dirty="0"/>
          </a:p>
        </p:txBody>
      </p:sp>
      <p:sp>
        <p:nvSpPr>
          <p:cNvPr id="20" name="Text 18"/>
          <p:cNvSpPr/>
          <p:nvPr/>
        </p:nvSpPr>
        <p:spPr>
          <a:xfrm>
            <a:off x="914400" y="3749040"/>
            <a:ext cx="4572000" cy="1051560"/>
          </a:xfrm>
          <a:prstGeom prst="rect">
            <a:avLst/>
          </a:prstGeom>
          <a:noFill/>
          <a:ln/>
        </p:spPr>
        <p:txBody>
          <a:bodyPr wrap="square" lIns="127" tIns="127" rIns="127" bIns="127" rtlCol="0" anchor="ctr">
            <a:normAutofit/>
          </a:bodyPr>
          <a:lstStyle/>
          <a:p>
            <a:pPr indent="0" marL="0">
              <a:buNone/>
            </a:pPr>
            <a:r>
              <a:rPr lang="en-US" sz="1100" dirty="0">
                <a:solidFill>
                  <a:srgbClr val="1F2A35"/>
                </a:solidFill>
              </a:rPr>
              <a:t>• validación externa: pendiente</a:t>
            </a:r>
            <a:endParaRPr lang="en-US" sz="1100" dirty="0"/>
          </a:p>
          <a:p>
            <a:pPr indent="0" marL="0">
              <a:buNone/>
            </a:pPr>
            <a:r>
              <a:rPr lang="en-US" sz="1100" dirty="0">
                <a:solidFill>
                  <a:srgbClr val="1F2A35"/>
                </a:solidFill>
              </a:rPr>
              <a:t>• umbrales: optimizados en esta cohorte</a:t>
            </a:r>
            <a:endParaRPr lang="en-US" sz="1100" dirty="0"/>
          </a:p>
          <a:p>
            <a:pPr indent="0" marL="0">
              <a:buNone/>
            </a:pPr>
            <a:r>
              <a:rPr lang="en-US" sz="1100" dirty="0">
                <a:solidFill>
                  <a:srgbClr val="1F2A35"/>
                </a:solidFill>
              </a:rPr>
              <a:t>• biomarcadores: seleccionados en la misma cohorte</a:t>
            </a:r>
            <a:endParaRPr lang="en-US" sz="1100" dirty="0"/>
          </a:p>
          <a:p>
            <a:pPr indent="0" marL="0">
              <a:buNone/>
            </a:pPr>
            <a:r>
              <a:rPr lang="en-US" sz="1100" dirty="0">
                <a:solidFill>
                  <a:srgbClr val="1F2A35"/>
                </a:solidFill>
              </a:rPr>
              <a:t>• posibles efectos técnicos residuales: no completamente evaluables</a:t>
            </a:r>
            <a:endParaRPr lang="en-US" sz="1100" dirty="0"/>
          </a:p>
        </p:txBody>
      </p:sp>
      <p:sp>
        <p:nvSpPr>
          <p:cNvPr id="21" name="Shape 19"/>
          <p:cNvSpPr/>
          <p:nvPr/>
        </p:nvSpPr>
        <p:spPr>
          <a:xfrm>
            <a:off x="6236208" y="3063240"/>
            <a:ext cx="5303520" cy="2148840"/>
          </a:xfrm>
          <a:prstGeom prst="roundRect">
            <a:avLst>
              <a:gd name="adj" fmla="val 3404"/>
            </a:avLst>
          </a:prstGeom>
          <a:solidFill>
            <a:srgbClr val="EDF7F3"/>
          </a:solidFill>
          <a:ln w="12700">
            <a:solidFill>
              <a:srgbClr val="CAE1D7"/>
            </a:solidFill>
            <a:prstDash val="solid"/>
          </a:ln>
        </p:spPr>
      </p:sp>
      <p:sp>
        <p:nvSpPr>
          <p:cNvPr id="22" name="Text 20"/>
          <p:cNvSpPr/>
          <p:nvPr/>
        </p:nvSpPr>
        <p:spPr>
          <a:xfrm>
            <a:off x="6473952" y="3328416"/>
            <a:ext cx="2651760" cy="274320"/>
          </a:xfrm>
          <a:prstGeom prst="rect">
            <a:avLst/>
          </a:prstGeom>
          <a:noFill/>
          <a:ln/>
        </p:spPr>
        <p:txBody>
          <a:bodyPr wrap="square" lIns="0" tIns="0" rIns="0" bIns="0" rtlCol="0" anchor="ctr"/>
          <a:lstStyle/>
          <a:p>
            <a:pPr indent="0" marL="0">
              <a:buNone/>
            </a:pPr>
            <a:r>
              <a:rPr lang="en-US" sz="1500" b="1" dirty="0">
                <a:solidFill>
                  <a:srgbClr val="2E8B68"/>
                </a:solidFill>
              </a:rPr>
              <a:t>Siguiente paso real</a:t>
            </a:r>
            <a:endParaRPr lang="en-US" sz="1500" dirty="0"/>
          </a:p>
        </p:txBody>
      </p:sp>
      <p:sp>
        <p:nvSpPr>
          <p:cNvPr id="23" name="Text 21"/>
          <p:cNvSpPr/>
          <p:nvPr/>
        </p:nvSpPr>
        <p:spPr>
          <a:xfrm>
            <a:off x="6492240" y="3730752"/>
            <a:ext cx="4526280" cy="1097280"/>
          </a:xfrm>
          <a:prstGeom prst="rect">
            <a:avLst/>
          </a:prstGeom>
          <a:noFill/>
          <a:ln/>
        </p:spPr>
        <p:txBody>
          <a:bodyPr wrap="square" lIns="0" tIns="0" rIns="0" bIns="0" rtlCol="0" anchor="ctr">
            <a:normAutofit/>
          </a:bodyPr>
          <a:lstStyle/>
          <a:p>
            <a:pPr indent="0" marL="0">
              <a:buNone/>
            </a:pPr>
            <a:r>
              <a:rPr lang="en-US" sz="1090" dirty="0">
                <a:solidFill>
                  <a:srgbClr val="1F2A35"/>
                </a:solidFill>
              </a:rPr>
              <a:t>1. congelar variables, proteínas y coeficientes</a:t>
            </a:r>
            <a:endParaRPr lang="en-US" sz="1090" dirty="0"/>
          </a:p>
          <a:p>
            <a:pPr indent="0" marL="0">
              <a:buNone/>
            </a:pPr>
            <a:r>
              <a:rPr lang="en-US" sz="1090" dirty="0">
                <a:solidFill>
                  <a:srgbClr val="1F2A35"/>
                </a:solidFill>
              </a:rPr>
              <a:t>2. aplicar el modelo sin cambios a una cohorte independiente</a:t>
            </a:r>
            <a:endParaRPr lang="en-US" sz="1090" dirty="0"/>
          </a:p>
          <a:p>
            <a:pPr indent="0" marL="0">
              <a:buNone/>
            </a:pPr>
            <a:r>
              <a:rPr lang="en-US" sz="1090" dirty="0">
                <a:solidFill>
                  <a:srgbClr val="1F2A35"/>
                </a:solidFill>
              </a:rPr>
              <a:t>3. reevaluar discriminación y calibración</a:t>
            </a:r>
            <a:endParaRPr lang="en-US" sz="1090" dirty="0"/>
          </a:p>
          <a:p>
            <a:pPr indent="0" marL="0">
              <a:buNone/>
            </a:pPr>
            <a:r>
              <a:rPr lang="en-US" sz="1090" dirty="0">
                <a:solidFill>
                  <a:srgbClr val="1F2A35"/>
                </a:solidFill>
              </a:rPr>
              <a:t>4. comprobar estabilidad de los umbrales</a:t>
            </a:r>
            <a:endParaRPr lang="en-US" sz="1090" dirty="0"/>
          </a:p>
          <a:p>
            <a:pPr indent="0" marL="0">
              <a:buNone/>
            </a:pPr>
            <a:r>
              <a:rPr lang="en-US" sz="1090" dirty="0">
                <a:solidFill>
                  <a:srgbClr val="1F2A35"/>
                </a:solidFill>
              </a:rPr>
              <a:t>5. validación prospectiva multicéntrica</a:t>
            </a:r>
            <a:endParaRPr lang="en-US" sz="1090" dirty="0"/>
          </a:p>
        </p:txBody>
      </p:sp>
      <p:sp>
        <p:nvSpPr>
          <p:cNvPr id="24" name="Shape 22"/>
          <p:cNvSpPr/>
          <p:nvPr/>
        </p:nvSpPr>
        <p:spPr>
          <a:xfrm>
            <a:off x="585216" y="5897880"/>
            <a:ext cx="11018520" cy="457200"/>
          </a:xfrm>
          <a:prstGeom prst="roundRect">
            <a:avLst>
              <a:gd name="adj" fmla="val 16000"/>
            </a:avLst>
          </a:prstGeom>
          <a:solidFill>
            <a:srgbClr val="EAF1F7"/>
          </a:solidFill>
          <a:ln w="12700">
            <a:solidFill>
              <a:srgbClr val="D5E1EB"/>
            </a:solidFill>
            <a:prstDash val="solid"/>
          </a:ln>
        </p:spPr>
      </p:sp>
      <p:sp>
        <p:nvSpPr>
          <p:cNvPr id="25" name="Text 23"/>
          <p:cNvSpPr/>
          <p:nvPr/>
        </p:nvSpPr>
        <p:spPr>
          <a:xfrm>
            <a:off x="749808" y="6007608"/>
            <a:ext cx="10689336" cy="210312"/>
          </a:xfrm>
          <a:prstGeom prst="rect">
            <a:avLst/>
          </a:prstGeom>
          <a:noFill/>
          <a:ln/>
        </p:spPr>
        <p:txBody>
          <a:bodyPr wrap="square" lIns="0" tIns="0" rIns="0" bIns="0" rtlCol="0" anchor="ctr"/>
          <a:lstStyle/>
          <a:p>
            <a:pPr indent="0" marL="0">
              <a:buNone/>
            </a:pPr>
            <a:r>
              <a:rPr lang="en-US" sz="1150" b="1" dirty="0">
                <a:solidFill>
                  <a:srgbClr val="16324F"/>
                </a:solidFill>
              </a:rPr>
              <a:t>Idea clave · la calculadora es una demostración del modelo; el rendimiento que defendemos sigue siendo el de la validación out-of-fold.</a:t>
            </a:r>
            <a:endParaRPr lang="en-US" sz="1150" dirty="0"/>
          </a:p>
        </p:txBody>
      </p:sp>
      <p:sp>
        <p:nvSpPr>
          <p:cNvPr id="25" name="Slide Number Placeholder 0"/>
          <p:cNvSpPr>
            <a:spLocks noGrp="1"/>
          </p:cNvSpPr>
          <p:nvPr>
            <p:ph type="sldNum" sz="quarter" idx="4294967295"/>
          </p:nvPr>
        </p:nvSpPr>
        <p:spPr>
          <a:xfrm>
            <a:off x="11384280" y="6473952"/>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6A2"/>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Respira Hackathon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ILA Compass — Metodología</dc:title>
  <dc:subject>Metodología del modelo de riesgo de progresión de ILA</dc:subject>
  <dc:creator>ILA Compass</dc:creator>
  <cp:lastModifiedBy>ILA Compass</cp:lastModifiedBy>
  <cp:revision>1</cp:revision>
  <dcterms:created xsi:type="dcterms:W3CDTF">2026-10-02T17:56:59Z</dcterms:created>
  <dcterms:modified xsi:type="dcterms:W3CDTF">2026-10-02T17:56:59Z</dcterms:modified>
</cp:coreProperties>
</file>